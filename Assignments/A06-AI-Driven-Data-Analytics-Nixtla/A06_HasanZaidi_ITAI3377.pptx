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B9D3A5-11E7-33D3-09D7-FB740E31B16C}" v="14" dt="2026-03-30T03:19:44.126"/>
    <p1510:client id="{89B1E09B-62DE-F8B2-94EA-AEDFE0EED6C7}" v="20" dt="2026-03-30T03:30:56.414"/>
    <p1510:client id="{EFD921E8-4CC6-0913-6C76-AEF8871FD3FD}" v="109" dt="2026-03-29T06:17:22.6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0E3DBF-A997-4F71-B2F0-5FA4DF6897C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FA9682-466C-481F-9641-FD25475D62B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Dataset Overview:</a:t>
          </a:r>
          <a:r>
            <a:rPr lang="en-US" sz="1400" dirty="0"/>
            <a:t> The study utilizes the IoT Temperature Readings dataset from Kaggle, consisting of over 97,000 temperature records from an IoT device monitoring internal and external environments.</a:t>
          </a:r>
        </a:p>
      </dgm:t>
    </dgm:pt>
    <dgm:pt modelId="{43685EE7-6FC1-4921-BA9E-D85B5B94E559}" type="parTrans" cxnId="{3167565B-AEA3-4B7C-9C35-6A4FFD91C13E}">
      <dgm:prSet/>
      <dgm:spPr/>
      <dgm:t>
        <a:bodyPr/>
        <a:lstStyle/>
        <a:p>
          <a:endParaRPr lang="en-US"/>
        </a:p>
      </dgm:t>
    </dgm:pt>
    <dgm:pt modelId="{A4A9AF17-0E90-41A0-B78B-8ABFA497EF8E}" type="sibTrans" cxnId="{3167565B-AEA3-4B7C-9C35-6A4FFD91C13E}">
      <dgm:prSet/>
      <dgm:spPr/>
      <dgm:t>
        <a:bodyPr/>
        <a:lstStyle/>
        <a:p>
          <a:endParaRPr lang="en-US"/>
        </a:p>
      </dgm:t>
    </dgm:pt>
    <dgm:pt modelId="{7A5F303A-F7C4-4E81-AA1D-96FF463071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Objective:</a:t>
          </a:r>
          <a:r>
            <a:rPr lang="en-US"/>
            <a:t> To develop a robust forecasting model capable of predicting future temperature trends.</a:t>
          </a:r>
        </a:p>
      </dgm:t>
    </dgm:pt>
    <dgm:pt modelId="{056767A1-B537-484D-BB6E-D930406E220B}" type="parTrans" cxnId="{16E33303-5E09-4D56-8559-BEA388E4F3CF}">
      <dgm:prSet/>
      <dgm:spPr/>
      <dgm:t>
        <a:bodyPr/>
        <a:lstStyle/>
        <a:p>
          <a:endParaRPr lang="en-US"/>
        </a:p>
      </dgm:t>
    </dgm:pt>
    <dgm:pt modelId="{66E05667-A75C-47A7-B1ED-E4D6A7D0B819}" type="sibTrans" cxnId="{16E33303-5E09-4D56-8559-BEA388E4F3CF}">
      <dgm:prSet/>
      <dgm:spPr/>
      <dgm:t>
        <a:bodyPr/>
        <a:lstStyle/>
        <a:p>
          <a:endParaRPr lang="en-US"/>
        </a:p>
      </dgm:t>
    </dgm:pt>
    <dgm:pt modelId="{C23AC076-9D37-461E-B465-1C3FD862976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The Challenge:</a:t>
          </a:r>
          <a:r>
            <a:rPr lang="en-US" dirty="0"/>
            <a:t> </a:t>
          </a:r>
          <a:r>
            <a:rPr lang="en-US" dirty="0" err="1"/>
            <a:t>IIoT</a:t>
          </a:r>
          <a:r>
            <a:rPr lang="en-US" dirty="0"/>
            <a:t> data is often characterized by irregular sampling, sensor glitches, and environmental noise. We need to transform raw, high-frequency logs into reliable, daily-level insights.</a:t>
          </a:r>
        </a:p>
      </dgm:t>
    </dgm:pt>
    <dgm:pt modelId="{6D6E6412-40BF-475F-91AA-DCB3DFB8A819}" type="parTrans" cxnId="{00BA6785-F243-4A4C-923D-CD86650C5514}">
      <dgm:prSet/>
      <dgm:spPr/>
      <dgm:t>
        <a:bodyPr/>
        <a:lstStyle/>
        <a:p>
          <a:endParaRPr lang="en-US"/>
        </a:p>
      </dgm:t>
    </dgm:pt>
    <dgm:pt modelId="{1F8AA4AD-EE62-40FE-9CEC-9B751914FEA6}" type="sibTrans" cxnId="{00BA6785-F243-4A4C-923D-CD86650C5514}">
      <dgm:prSet/>
      <dgm:spPr/>
      <dgm:t>
        <a:bodyPr/>
        <a:lstStyle/>
        <a:p>
          <a:endParaRPr lang="en-US"/>
        </a:p>
      </dgm:t>
    </dgm:pt>
    <dgm:pt modelId="{D8456982-58DC-4558-A092-3FAD2C6D2652}" type="pres">
      <dgm:prSet presAssocID="{3B0E3DBF-A997-4F71-B2F0-5FA4DF6897CE}" presName="root" presStyleCnt="0">
        <dgm:presLayoutVars>
          <dgm:dir/>
          <dgm:resizeHandles val="exact"/>
        </dgm:presLayoutVars>
      </dgm:prSet>
      <dgm:spPr/>
    </dgm:pt>
    <dgm:pt modelId="{68135945-C9EC-43C3-9C1A-48D34BBCBB59}" type="pres">
      <dgm:prSet presAssocID="{FCFA9682-466C-481F-9641-FD25475D62B5}" presName="compNode" presStyleCnt="0"/>
      <dgm:spPr/>
    </dgm:pt>
    <dgm:pt modelId="{8291E488-C118-4493-B174-6F281D3607F5}" type="pres">
      <dgm:prSet presAssocID="{FCFA9682-466C-481F-9641-FD25475D62B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FFB4CEE-CC2F-49C3-90E8-28468AA01702}" type="pres">
      <dgm:prSet presAssocID="{FCFA9682-466C-481F-9641-FD25475D62B5}" presName="spaceRect" presStyleCnt="0"/>
      <dgm:spPr/>
    </dgm:pt>
    <dgm:pt modelId="{73872ABD-9597-4264-A966-A4C765CAF84D}" type="pres">
      <dgm:prSet presAssocID="{FCFA9682-466C-481F-9641-FD25475D62B5}" presName="textRect" presStyleLbl="revTx" presStyleIdx="0" presStyleCnt="3">
        <dgm:presLayoutVars>
          <dgm:chMax val="1"/>
          <dgm:chPref val="1"/>
        </dgm:presLayoutVars>
      </dgm:prSet>
      <dgm:spPr/>
    </dgm:pt>
    <dgm:pt modelId="{D4DD81EC-7081-4DE0-A4CF-F137CF696FCF}" type="pres">
      <dgm:prSet presAssocID="{A4A9AF17-0E90-41A0-B78B-8ABFA497EF8E}" presName="sibTrans" presStyleCnt="0"/>
      <dgm:spPr/>
    </dgm:pt>
    <dgm:pt modelId="{51140321-3F79-401B-8814-9FAF996DFF67}" type="pres">
      <dgm:prSet presAssocID="{7A5F303A-F7C4-4E81-AA1D-96FF46307150}" presName="compNode" presStyleCnt="0"/>
      <dgm:spPr/>
    </dgm:pt>
    <dgm:pt modelId="{8D1F98DE-DABF-40E4-B11C-A0FFD20AC80B}" type="pres">
      <dgm:prSet presAssocID="{7A5F303A-F7C4-4E81-AA1D-96FF4630715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32E51D46-BC7F-4513-942B-C4CB9CBC023A}" type="pres">
      <dgm:prSet presAssocID="{7A5F303A-F7C4-4E81-AA1D-96FF46307150}" presName="spaceRect" presStyleCnt="0"/>
      <dgm:spPr/>
    </dgm:pt>
    <dgm:pt modelId="{B9E3EEB4-AA65-4FBC-B110-296F9B8A4878}" type="pres">
      <dgm:prSet presAssocID="{7A5F303A-F7C4-4E81-AA1D-96FF46307150}" presName="textRect" presStyleLbl="revTx" presStyleIdx="1" presStyleCnt="3">
        <dgm:presLayoutVars>
          <dgm:chMax val="1"/>
          <dgm:chPref val="1"/>
        </dgm:presLayoutVars>
      </dgm:prSet>
      <dgm:spPr/>
    </dgm:pt>
    <dgm:pt modelId="{AEB6663A-F6F3-4AF1-BF18-A76B0EEA313C}" type="pres">
      <dgm:prSet presAssocID="{66E05667-A75C-47A7-B1ED-E4D6A7D0B819}" presName="sibTrans" presStyleCnt="0"/>
      <dgm:spPr/>
    </dgm:pt>
    <dgm:pt modelId="{69B4632A-8B91-43ED-98BF-DF344882ED18}" type="pres">
      <dgm:prSet presAssocID="{C23AC076-9D37-461E-B465-1C3FD8629760}" presName="compNode" presStyleCnt="0"/>
      <dgm:spPr/>
    </dgm:pt>
    <dgm:pt modelId="{C6476322-E145-4C03-AAE1-E170A3A516A7}" type="pres">
      <dgm:prSet presAssocID="{C23AC076-9D37-461E-B465-1C3FD862976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3B9C0EE9-CDAD-4266-BA81-B641E120FE35}" type="pres">
      <dgm:prSet presAssocID="{C23AC076-9D37-461E-B465-1C3FD8629760}" presName="spaceRect" presStyleCnt="0"/>
      <dgm:spPr/>
    </dgm:pt>
    <dgm:pt modelId="{CCE1DFA8-09D5-4792-BC27-B40565CECAD8}" type="pres">
      <dgm:prSet presAssocID="{C23AC076-9D37-461E-B465-1C3FD862976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6E33303-5E09-4D56-8559-BEA388E4F3CF}" srcId="{3B0E3DBF-A997-4F71-B2F0-5FA4DF6897CE}" destId="{7A5F303A-F7C4-4E81-AA1D-96FF46307150}" srcOrd="1" destOrd="0" parTransId="{056767A1-B537-484D-BB6E-D930406E220B}" sibTransId="{66E05667-A75C-47A7-B1ED-E4D6A7D0B819}"/>
    <dgm:cxn modelId="{3167565B-AEA3-4B7C-9C35-6A4FFD91C13E}" srcId="{3B0E3DBF-A997-4F71-B2F0-5FA4DF6897CE}" destId="{FCFA9682-466C-481F-9641-FD25475D62B5}" srcOrd="0" destOrd="0" parTransId="{43685EE7-6FC1-4921-BA9E-D85B5B94E559}" sibTransId="{A4A9AF17-0E90-41A0-B78B-8ABFA497EF8E}"/>
    <dgm:cxn modelId="{F2ACF248-170C-412D-A173-7E9A6CA7E932}" type="presOf" srcId="{3B0E3DBF-A997-4F71-B2F0-5FA4DF6897CE}" destId="{D8456982-58DC-4558-A092-3FAD2C6D2652}" srcOrd="0" destOrd="0" presId="urn:microsoft.com/office/officeart/2018/2/layout/IconLabelList"/>
    <dgm:cxn modelId="{00BA6785-F243-4A4C-923D-CD86650C5514}" srcId="{3B0E3DBF-A997-4F71-B2F0-5FA4DF6897CE}" destId="{C23AC076-9D37-461E-B465-1C3FD8629760}" srcOrd="2" destOrd="0" parTransId="{6D6E6412-40BF-475F-91AA-DCB3DFB8A819}" sibTransId="{1F8AA4AD-EE62-40FE-9CEC-9B751914FEA6}"/>
    <dgm:cxn modelId="{50B70E99-1131-464F-A1A6-546522231E35}" type="presOf" srcId="{7A5F303A-F7C4-4E81-AA1D-96FF46307150}" destId="{B9E3EEB4-AA65-4FBC-B110-296F9B8A4878}" srcOrd="0" destOrd="0" presId="urn:microsoft.com/office/officeart/2018/2/layout/IconLabelList"/>
    <dgm:cxn modelId="{8A4654B3-860D-445D-8FA2-F233EA15323B}" type="presOf" srcId="{FCFA9682-466C-481F-9641-FD25475D62B5}" destId="{73872ABD-9597-4264-A966-A4C765CAF84D}" srcOrd="0" destOrd="0" presId="urn:microsoft.com/office/officeart/2018/2/layout/IconLabelList"/>
    <dgm:cxn modelId="{23556DFF-EF1C-4D76-B60B-7CEC9C42F020}" type="presOf" srcId="{C23AC076-9D37-461E-B465-1C3FD8629760}" destId="{CCE1DFA8-09D5-4792-BC27-B40565CECAD8}" srcOrd="0" destOrd="0" presId="urn:microsoft.com/office/officeart/2018/2/layout/IconLabelList"/>
    <dgm:cxn modelId="{08148D1E-876C-4782-B7D2-18A9B9B470F8}" type="presParOf" srcId="{D8456982-58DC-4558-A092-3FAD2C6D2652}" destId="{68135945-C9EC-43C3-9C1A-48D34BBCBB59}" srcOrd="0" destOrd="0" presId="urn:microsoft.com/office/officeart/2018/2/layout/IconLabelList"/>
    <dgm:cxn modelId="{683DDB8F-7C17-4751-B17F-AEEAB192B740}" type="presParOf" srcId="{68135945-C9EC-43C3-9C1A-48D34BBCBB59}" destId="{8291E488-C118-4493-B174-6F281D3607F5}" srcOrd="0" destOrd="0" presId="urn:microsoft.com/office/officeart/2018/2/layout/IconLabelList"/>
    <dgm:cxn modelId="{D5A0A6A2-277E-41F2-A26C-D8CC7B42DFA1}" type="presParOf" srcId="{68135945-C9EC-43C3-9C1A-48D34BBCBB59}" destId="{1FFB4CEE-CC2F-49C3-90E8-28468AA01702}" srcOrd="1" destOrd="0" presId="urn:microsoft.com/office/officeart/2018/2/layout/IconLabelList"/>
    <dgm:cxn modelId="{1AF3C05F-ECC2-4511-A265-807EB8223B3A}" type="presParOf" srcId="{68135945-C9EC-43C3-9C1A-48D34BBCBB59}" destId="{73872ABD-9597-4264-A966-A4C765CAF84D}" srcOrd="2" destOrd="0" presId="urn:microsoft.com/office/officeart/2018/2/layout/IconLabelList"/>
    <dgm:cxn modelId="{3AE57851-B26B-4F1C-B301-BFE8491330FC}" type="presParOf" srcId="{D8456982-58DC-4558-A092-3FAD2C6D2652}" destId="{D4DD81EC-7081-4DE0-A4CF-F137CF696FCF}" srcOrd="1" destOrd="0" presId="urn:microsoft.com/office/officeart/2018/2/layout/IconLabelList"/>
    <dgm:cxn modelId="{F54DDC05-318F-40E9-B4C5-9F1DBD7BEC77}" type="presParOf" srcId="{D8456982-58DC-4558-A092-3FAD2C6D2652}" destId="{51140321-3F79-401B-8814-9FAF996DFF67}" srcOrd="2" destOrd="0" presId="urn:microsoft.com/office/officeart/2018/2/layout/IconLabelList"/>
    <dgm:cxn modelId="{ED7048E4-7E83-4270-A701-86907B3D72D3}" type="presParOf" srcId="{51140321-3F79-401B-8814-9FAF996DFF67}" destId="{8D1F98DE-DABF-40E4-B11C-A0FFD20AC80B}" srcOrd="0" destOrd="0" presId="urn:microsoft.com/office/officeart/2018/2/layout/IconLabelList"/>
    <dgm:cxn modelId="{31808540-54B0-41F6-9B10-DC8E92A94040}" type="presParOf" srcId="{51140321-3F79-401B-8814-9FAF996DFF67}" destId="{32E51D46-BC7F-4513-942B-C4CB9CBC023A}" srcOrd="1" destOrd="0" presId="urn:microsoft.com/office/officeart/2018/2/layout/IconLabelList"/>
    <dgm:cxn modelId="{B18B95D2-2114-4954-BB23-5867D3C11BE1}" type="presParOf" srcId="{51140321-3F79-401B-8814-9FAF996DFF67}" destId="{B9E3EEB4-AA65-4FBC-B110-296F9B8A4878}" srcOrd="2" destOrd="0" presId="urn:microsoft.com/office/officeart/2018/2/layout/IconLabelList"/>
    <dgm:cxn modelId="{B081960E-1B1C-4683-B745-2790924B912E}" type="presParOf" srcId="{D8456982-58DC-4558-A092-3FAD2C6D2652}" destId="{AEB6663A-F6F3-4AF1-BF18-A76B0EEA313C}" srcOrd="3" destOrd="0" presId="urn:microsoft.com/office/officeart/2018/2/layout/IconLabelList"/>
    <dgm:cxn modelId="{62239285-7F1B-43F0-8956-2A92A1377192}" type="presParOf" srcId="{D8456982-58DC-4558-A092-3FAD2C6D2652}" destId="{69B4632A-8B91-43ED-98BF-DF344882ED18}" srcOrd="4" destOrd="0" presId="urn:microsoft.com/office/officeart/2018/2/layout/IconLabelList"/>
    <dgm:cxn modelId="{6112950F-3069-49DE-B1C5-FB3C751B5A98}" type="presParOf" srcId="{69B4632A-8B91-43ED-98BF-DF344882ED18}" destId="{C6476322-E145-4C03-AAE1-E170A3A516A7}" srcOrd="0" destOrd="0" presId="urn:microsoft.com/office/officeart/2018/2/layout/IconLabelList"/>
    <dgm:cxn modelId="{BE1B03CD-4B5F-4DFF-A820-493F1BC39931}" type="presParOf" srcId="{69B4632A-8B91-43ED-98BF-DF344882ED18}" destId="{3B9C0EE9-CDAD-4266-BA81-B641E120FE35}" srcOrd="1" destOrd="0" presId="urn:microsoft.com/office/officeart/2018/2/layout/IconLabelList"/>
    <dgm:cxn modelId="{071D747E-C6DF-4AC0-ABDD-393093D2408D}" type="presParOf" srcId="{69B4632A-8B91-43ED-98BF-DF344882ED18}" destId="{CCE1DFA8-09D5-4792-BC27-B40565CECAD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A9BA547-0024-4216-AE2B-A445B4D0A08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29E5337-52A9-4B5A-8854-E313EBFB6A10}">
      <dgm:prSet/>
      <dgm:spPr/>
      <dgm:t>
        <a:bodyPr/>
        <a:lstStyle/>
        <a:p>
          <a:r>
            <a:rPr lang="en-US"/>
            <a:t>To ensure high-quality model inputs, the following pipeline was implemented:</a:t>
          </a:r>
        </a:p>
      </dgm:t>
    </dgm:pt>
    <dgm:pt modelId="{01D67548-6867-4CBF-AFAE-BB37D5187239}" type="parTrans" cxnId="{2961C5C4-73DE-46A5-ACD2-3B67F1C4B6CB}">
      <dgm:prSet/>
      <dgm:spPr/>
      <dgm:t>
        <a:bodyPr/>
        <a:lstStyle/>
        <a:p>
          <a:endParaRPr lang="en-US"/>
        </a:p>
      </dgm:t>
    </dgm:pt>
    <dgm:pt modelId="{5B55692F-8EB4-433A-A7E8-54442E39DB6C}" type="sibTrans" cxnId="{2961C5C4-73DE-46A5-ACD2-3B67F1C4B6CB}">
      <dgm:prSet/>
      <dgm:spPr/>
      <dgm:t>
        <a:bodyPr/>
        <a:lstStyle/>
        <a:p>
          <a:endParaRPr lang="en-US"/>
        </a:p>
      </dgm:t>
    </dgm:pt>
    <dgm:pt modelId="{2F3B8BAD-4875-4F9D-BCEF-45282E44772C}">
      <dgm:prSet/>
      <dgm:spPr/>
      <dgm:t>
        <a:bodyPr/>
        <a:lstStyle/>
        <a:p>
          <a:r>
            <a:rPr lang="en-US" b="1"/>
            <a:t>Data Cleaning:</a:t>
          </a:r>
          <a:r>
            <a:rPr lang="en-US"/>
            <a:t> Dropped uninformative columns (e.g., static room IDs) and handled duplicate entries.</a:t>
          </a:r>
        </a:p>
      </dgm:t>
    </dgm:pt>
    <dgm:pt modelId="{AC28BD47-AAB6-4E90-BB9A-836803969586}" type="parTrans" cxnId="{72341BED-A3B7-4155-962C-A912B57975F9}">
      <dgm:prSet/>
      <dgm:spPr/>
      <dgm:t>
        <a:bodyPr/>
        <a:lstStyle/>
        <a:p>
          <a:endParaRPr lang="en-US"/>
        </a:p>
      </dgm:t>
    </dgm:pt>
    <dgm:pt modelId="{B5D2C676-F0A2-4E56-A64E-A7C0C5570550}" type="sibTrans" cxnId="{72341BED-A3B7-4155-962C-A912B57975F9}">
      <dgm:prSet/>
      <dgm:spPr/>
      <dgm:t>
        <a:bodyPr/>
        <a:lstStyle/>
        <a:p>
          <a:endParaRPr lang="en-US"/>
        </a:p>
      </dgm:t>
    </dgm:pt>
    <dgm:pt modelId="{86353147-1459-493B-B8D0-BE3EA7272102}">
      <dgm:prSet/>
      <dgm:spPr/>
      <dgm:t>
        <a:bodyPr/>
        <a:lstStyle/>
        <a:p>
          <a:r>
            <a:rPr lang="en-US" b="1"/>
            <a:t>Feature Extraction:</a:t>
          </a:r>
          <a:r>
            <a:rPr lang="en-US"/>
            <a:t> Parsed timestamps to extract temporal components such as Year, Month, Day, Weekday, and Hour.</a:t>
          </a:r>
        </a:p>
      </dgm:t>
    </dgm:pt>
    <dgm:pt modelId="{2E657C6A-5A89-482E-97E5-79126F590CFF}" type="parTrans" cxnId="{21045AF5-0A86-47A4-ADB9-B52B6F330732}">
      <dgm:prSet/>
      <dgm:spPr/>
      <dgm:t>
        <a:bodyPr/>
        <a:lstStyle/>
        <a:p>
          <a:endParaRPr lang="en-US"/>
        </a:p>
      </dgm:t>
    </dgm:pt>
    <dgm:pt modelId="{7961F7BA-DD7B-4966-AA41-7639AFDEBD44}" type="sibTrans" cxnId="{21045AF5-0A86-47A4-ADB9-B52B6F330732}">
      <dgm:prSet/>
      <dgm:spPr/>
      <dgm:t>
        <a:bodyPr/>
        <a:lstStyle/>
        <a:p>
          <a:endParaRPr lang="en-US"/>
        </a:p>
      </dgm:t>
    </dgm:pt>
    <dgm:pt modelId="{D527BD3E-AF0A-4A63-B408-6D01AFCFAF96}">
      <dgm:prSet/>
      <dgm:spPr/>
      <dgm:t>
        <a:bodyPr/>
        <a:lstStyle/>
        <a:p>
          <a:r>
            <a:rPr lang="en-US" b="1"/>
            <a:t>Resampling:</a:t>
          </a:r>
          <a:r>
            <a:rPr lang="en-US"/>
            <a:t> Aggregated raw readings into daily means to reduce noise and provide a consistent time interval for forecasting.</a:t>
          </a:r>
        </a:p>
      </dgm:t>
    </dgm:pt>
    <dgm:pt modelId="{4BE3779F-8931-40E5-AD2F-5011877455F1}" type="parTrans" cxnId="{63E77ECC-E43C-474D-82A8-48A9D575DFF8}">
      <dgm:prSet/>
      <dgm:spPr/>
      <dgm:t>
        <a:bodyPr/>
        <a:lstStyle/>
        <a:p>
          <a:endParaRPr lang="en-US"/>
        </a:p>
      </dgm:t>
    </dgm:pt>
    <dgm:pt modelId="{0C504C68-8C2C-4D49-979A-0BC0BDB6B626}" type="sibTrans" cxnId="{63E77ECC-E43C-474D-82A8-48A9D575DFF8}">
      <dgm:prSet/>
      <dgm:spPr/>
      <dgm:t>
        <a:bodyPr/>
        <a:lstStyle/>
        <a:p>
          <a:endParaRPr lang="en-US"/>
        </a:p>
      </dgm:t>
    </dgm:pt>
    <dgm:pt modelId="{359F6942-7236-4304-9F11-C98111B27A6B}">
      <dgm:prSet/>
      <dgm:spPr/>
      <dgm:t>
        <a:bodyPr/>
        <a:lstStyle/>
        <a:p>
          <a:r>
            <a:rPr lang="en-US" b="1"/>
            <a:t>Gap Filling:</a:t>
          </a:r>
          <a:r>
            <a:rPr lang="en-US"/>
            <a:t> Applied spline interpolation (5th order) to handle missing dates, ensuring a continuous time-series sequence.</a:t>
          </a:r>
        </a:p>
      </dgm:t>
    </dgm:pt>
    <dgm:pt modelId="{35CEEA9E-1FAB-4C5D-B640-2ECF007B8472}" type="parTrans" cxnId="{DC30AC2B-F06A-4886-9225-6E26B601280F}">
      <dgm:prSet/>
      <dgm:spPr/>
      <dgm:t>
        <a:bodyPr/>
        <a:lstStyle/>
        <a:p>
          <a:endParaRPr lang="en-US"/>
        </a:p>
      </dgm:t>
    </dgm:pt>
    <dgm:pt modelId="{7EA96B10-C22C-4A15-8CD2-421805577E0B}" type="sibTrans" cxnId="{DC30AC2B-F06A-4886-9225-6E26B601280F}">
      <dgm:prSet/>
      <dgm:spPr/>
      <dgm:t>
        <a:bodyPr/>
        <a:lstStyle/>
        <a:p>
          <a:endParaRPr lang="en-US"/>
        </a:p>
      </dgm:t>
    </dgm:pt>
    <dgm:pt modelId="{2232E5E2-D588-449B-9529-E767676EE32C}" type="pres">
      <dgm:prSet presAssocID="{8A9BA547-0024-4216-AE2B-A445B4D0A08C}" presName="vert0" presStyleCnt="0">
        <dgm:presLayoutVars>
          <dgm:dir/>
          <dgm:animOne val="branch"/>
          <dgm:animLvl val="lvl"/>
        </dgm:presLayoutVars>
      </dgm:prSet>
      <dgm:spPr/>
    </dgm:pt>
    <dgm:pt modelId="{29158AD6-A3E0-4971-8C1E-630AE586C608}" type="pres">
      <dgm:prSet presAssocID="{829E5337-52A9-4B5A-8854-E313EBFB6A10}" presName="thickLine" presStyleLbl="alignNode1" presStyleIdx="0" presStyleCnt="5"/>
      <dgm:spPr/>
    </dgm:pt>
    <dgm:pt modelId="{E07D4B58-7344-4AE3-AC01-39A530581570}" type="pres">
      <dgm:prSet presAssocID="{829E5337-52A9-4B5A-8854-E313EBFB6A10}" presName="horz1" presStyleCnt="0"/>
      <dgm:spPr/>
    </dgm:pt>
    <dgm:pt modelId="{6533A15E-2D56-4EB9-97B7-E227B2A5236E}" type="pres">
      <dgm:prSet presAssocID="{829E5337-52A9-4B5A-8854-E313EBFB6A10}" presName="tx1" presStyleLbl="revTx" presStyleIdx="0" presStyleCnt="5"/>
      <dgm:spPr/>
    </dgm:pt>
    <dgm:pt modelId="{AB5AD5A3-8483-42D8-BD2A-EE476C1A9881}" type="pres">
      <dgm:prSet presAssocID="{829E5337-52A9-4B5A-8854-E313EBFB6A10}" presName="vert1" presStyleCnt="0"/>
      <dgm:spPr/>
    </dgm:pt>
    <dgm:pt modelId="{6F93D09E-9676-45E7-9F8A-94CFC641BBFC}" type="pres">
      <dgm:prSet presAssocID="{2F3B8BAD-4875-4F9D-BCEF-45282E44772C}" presName="thickLine" presStyleLbl="alignNode1" presStyleIdx="1" presStyleCnt="5"/>
      <dgm:spPr/>
    </dgm:pt>
    <dgm:pt modelId="{C95B6CB4-598B-4116-8193-B3FA07A3DE6A}" type="pres">
      <dgm:prSet presAssocID="{2F3B8BAD-4875-4F9D-BCEF-45282E44772C}" presName="horz1" presStyleCnt="0"/>
      <dgm:spPr/>
    </dgm:pt>
    <dgm:pt modelId="{B227CBDC-0024-4B3A-B4C2-92DE2440ABD4}" type="pres">
      <dgm:prSet presAssocID="{2F3B8BAD-4875-4F9D-BCEF-45282E44772C}" presName="tx1" presStyleLbl="revTx" presStyleIdx="1" presStyleCnt="5"/>
      <dgm:spPr/>
    </dgm:pt>
    <dgm:pt modelId="{402959C5-D0A9-4F7A-9276-C3C094D3F926}" type="pres">
      <dgm:prSet presAssocID="{2F3B8BAD-4875-4F9D-BCEF-45282E44772C}" presName="vert1" presStyleCnt="0"/>
      <dgm:spPr/>
    </dgm:pt>
    <dgm:pt modelId="{99BC990F-CE4A-4446-93C4-AE822DDBB47F}" type="pres">
      <dgm:prSet presAssocID="{86353147-1459-493B-B8D0-BE3EA7272102}" presName="thickLine" presStyleLbl="alignNode1" presStyleIdx="2" presStyleCnt="5"/>
      <dgm:spPr/>
    </dgm:pt>
    <dgm:pt modelId="{4023FB18-217E-47C6-85CE-6AA798387995}" type="pres">
      <dgm:prSet presAssocID="{86353147-1459-493B-B8D0-BE3EA7272102}" presName="horz1" presStyleCnt="0"/>
      <dgm:spPr/>
    </dgm:pt>
    <dgm:pt modelId="{2F3F7C25-6D4E-4503-859E-4D4D99AF70F0}" type="pres">
      <dgm:prSet presAssocID="{86353147-1459-493B-B8D0-BE3EA7272102}" presName="tx1" presStyleLbl="revTx" presStyleIdx="2" presStyleCnt="5"/>
      <dgm:spPr/>
    </dgm:pt>
    <dgm:pt modelId="{21B1637F-0E29-46DC-B2E7-AC07F1919721}" type="pres">
      <dgm:prSet presAssocID="{86353147-1459-493B-B8D0-BE3EA7272102}" presName="vert1" presStyleCnt="0"/>
      <dgm:spPr/>
    </dgm:pt>
    <dgm:pt modelId="{A0B9E884-7296-4AD7-85D8-3D6C8BCCA308}" type="pres">
      <dgm:prSet presAssocID="{D527BD3E-AF0A-4A63-B408-6D01AFCFAF96}" presName="thickLine" presStyleLbl="alignNode1" presStyleIdx="3" presStyleCnt="5"/>
      <dgm:spPr/>
    </dgm:pt>
    <dgm:pt modelId="{1E514680-9CF8-4AA0-9E4F-4086262B1DD8}" type="pres">
      <dgm:prSet presAssocID="{D527BD3E-AF0A-4A63-B408-6D01AFCFAF96}" presName="horz1" presStyleCnt="0"/>
      <dgm:spPr/>
    </dgm:pt>
    <dgm:pt modelId="{1D361A73-EB71-483C-90E7-43F7108F216B}" type="pres">
      <dgm:prSet presAssocID="{D527BD3E-AF0A-4A63-B408-6D01AFCFAF96}" presName="tx1" presStyleLbl="revTx" presStyleIdx="3" presStyleCnt="5"/>
      <dgm:spPr/>
    </dgm:pt>
    <dgm:pt modelId="{E7A07355-1945-40F9-8C9D-5F5C7C7D7EC2}" type="pres">
      <dgm:prSet presAssocID="{D527BD3E-AF0A-4A63-B408-6D01AFCFAF96}" presName="vert1" presStyleCnt="0"/>
      <dgm:spPr/>
    </dgm:pt>
    <dgm:pt modelId="{E380B59E-8126-43FE-9884-5CDC4A2EEE39}" type="pres">
      <dgm:prSet presAssocID="{359F6942-7236-4304-9F11-C98111B27A6B}" presName="thickLine" presStyleLbl="alignNode1" presStyleIdx="4" presStyleCnt="5"/>
      <dgm:spPr/>
    </dgm:pt>
    <dgm:pt modelId="{B5A32640-CD54-42D3-8B22-CFF64A9CC8C7}" type="pres">
      <dgm:prSet presAssocID="{359F6942-7236-4304-9F11-C98111B27A6B}" presName="horz1" presStyleCnt="0"/>
      <dgm:spPr/>
    </dgm:pt>
    <dgm:pt modelId="{C77952C5-E4F0-49AE-A0AF-D5C804679A67}" type="pres">
      <dgm:prSet presAssocID="{359F6942-7236-4304-9F11-C98111B27A6B}" presName="tx1" presStyleLbl="revTx" presStyleIdx="4" presStyleCnt="5"/>
      <dgm:spPr/>
    </dgm:pt>
    <dgm:pt modelId="{3EB9CC93-5F7B-47EA-9339-5DE47FAFBA08}" type="pres">
      <dgm:prSet presAssocID="{359F6942-7236-4304-9F11-C98111B27A6B}" presName="vert1" presStyleCnt="0"/>
      <dgm:spPr/>
    </dgm:pt>
  </dgm:ptLst>
  <dgm:cxnLst>
    <dgm:cxn modelId="{9826D21F-6FAE-4129-9E7B-10CFC2786480}" type="presOf" srcId="{D527BD3E-AF0A-4A63-B408-6D01AFCFAF96}" destId="{1D361A73-EB71-483C-90E7-43F7108F216B}" srcOrd="0" destOrd="0" presId="urn:microsoft.com/office/officeart/2008/layout/LinedList"/>
    <dgm:cxn modelId="{DC30AC2B-F06A-4886-9225-6E26B601280F}" srcId="{8A9BA547-0024-4216-AE2B-A445B4D0A08C}" destId="{359F6942-7236-4304-9F11-C98111B27A6B}" srcOrd="4" destOrd="0" parTransId="{35CEEA9E-1FAB-4C5D-B640-2ECF007B8472}" sibTransId="{7EA96B10-C22C-4A15-8CD2-421805577E0B}"/>
    <dgm:cxn modelId="{3E4C6D33-0191-49A4-BF8C-BDC5A55255CB}" type="presOf" srcId="{2F3B8BAD-4875-4F9D-BCEF-45282E44772C}" destId="{B227CBDC-0024-4B3A-B4C2-92DE2440ABD4}" srcOrd="0" destOrd="0" presId="urn:microsoft.com/office/officeart/2008/layout/LinedList"/>
    <dgm:cxn modelId="{7B737BA2-E970-4197-8713-FB311D0156C8}" type="presOf" srcId="{359F6942-7236-4304-9F11-C98111B27A6B}" destId="{C77952C5-E4F0-49AE-A0AF-D5C804679A67}" srcOrd="0" destOrd="0" presId="urn:microsoft.com/office/officeart/2008/layout/LinedList"/>
    <dgm:cxn modelId="{69C127B2-FB9A-4F48-A8BB-087A60F1268E}" type="presOf" srcId="{8A9BA547-0024-4216-AE2B-A445B4D0A08C}" destId="{2232E5E2-D588-449B-9529-E767676EE32C}" srcOrd="0" destOrd="0" presId="urn:microsoft.com/office/officeart/2008/layout/LinedList"/>
    <dgm:cxn modelId="{E5F8A0B8-8ADA-418E-833E-E25328D0F83E}" type="presOf" srcId="{86353147-1459-493B-B8D0-BE3EA7272102}" destId="{2F3F7C25-6D4E-4503-859E-4D4D99AF70F0}" srcOrd="0" destOrd="0" presId="urn:microsoft.com/office/officeart/2008/layout/LinedList"/>
    <dgm:cxn modelId="{2961C5C4-73DE-46A5-ACD2-3B67F1C4B6CB}" srcId="{8A9BA547-0024-4216-AE2B-A445B4D0A08C}" destId="{829E5337-52A9-4B5A-8854-E313EBFB6A10}" srcOrd="0" destOrd="0" parTransId="{01D67548-6867-4CBF-AFAE-BB37D5187239}" sibTransId="{5B55692F-8EB4-433A-A7E8-54442E39DB6C}"/>
    <dgm:cxn modelId="{63E77ECC-E43C-474D-82A8-48A9D575DFF8}" srcId="{8A9BA547-0024-4216-AE2B-A445B4D0A08C}" destId="{D527BD3E-AF0A-4A63-B408-6D01AFCFAF96}" srcOrd="3" destOrd="0" parTransId="{4BE3779F-8931-40E5-AD2F-5011877455F1}" sibTransId="{0C504C68-8C2C-4D49-979A-0BC0BDB6B626}"/>
    <dgm:cxn modelId="{D9B64BD5-8A47-4B66-A516-3D4EF52ADC6B}" type="presOf" srcId="{829E5337-52A9-4B5A-8854-E313EBFB6A10}" destId="{6533A15E-2D56-4EB9-97B7-E227B2A5236E}" srcOrd="0" destOrd="0" presId="urn:microsoft.com/office/officeart/2008/layout/LinedList"/>
    <dgm:cxn modelId="{72341BED-A3B7-4155-962C-A912B57975F9}" srcId="{8A9BA547-0024-4216-AE2B-A445B4D0A08C}" destId="{2F3B8BAD-4875-4F9D-BCEF-45282E44772C}" srcOrd="1" destOrd="0" parTransId="{AC28BD47-AAB6-4E90-BB9A-836803969586}" sibTransId="{B5D2C676-F0A2-4E56-A64E-A7C0C5570550}"/>
    <dgm:cxn modelId="{21045AF5-0A86-47A4-ADB9-B52B6F330732}" srcId="{8A9BA547-0024-4216-AE2B-A445B4D0A08C}" destId="{86353147-1459-493B-B8D0-BE3EA7272102}" srcOrd="2" destOrd="0" parTransId="{2E657C6A-5A89-482E-97E5-79126F590CFF}" sibTransId="{7961F7BA-DD7B-4966-AA41-7639AFDEBD44}"/>
    <dgm:cxn modelId="{2C2EDF78-DAC4-4E3D-8FC5-81B66CA05FE6}" type="presParOf" srcId="{2232E5E2-D588-449B-9529-E767676EE32C}" destId="{29158AD6-A3E0-4971-8C1E-630AE586C608}" srcOrd="0" destOrd="0" presId="urn:microsoft.com/office/officeart/2008/layout/LinedList"/>
    <dgm:cxn modelId="{ACC0A566-E98C-4FC5-BFD4-7BA214690FEE}" type="presParOf" srcId="{2232E5E2-D588-449B-9529-E767676EE32C}" destId="{E07D4B58-7344-4AE3-AC01-39A530581570}" srcOrd="1" destOrd="0" presId="urn:microsoft.com/office/officeart/2008/layout/LinedList"/>
    <dgm:cxn modelId="{E0627D1B-8E91-46D3-8D6C-CF113488A31E}" type="presParOf" srcId="{E07D4B58-7344-4AE3-AC01-39A530581570}" destId="{6533A15E-2D56-4EB9-97B7-E227B2A5236E}" srcOrd="0" destOrd="0" presId="urn:microsoft.com/office/officeart/2008/layout/LinedList"/>
    <dgm:cxn modelId="{BAC43F64-33AB-4F70-95C0-68586989B424}" type="presParOf" srcId="{E07D4B58-7344-4AE3-AC01-39A530581570}" destId="{AB5AD5A3-8483-42D8-BD2A-EE476C1A9881}" srcOrd="1" destOrd="0" presId="urn:microsoft.com/office/officeart/2008/layout/LinedList"/>
    <dgm:cxn modelId="{001BCAD5-5830-405F-B20B-D1FBDA3FB198}" type="presParOf" srcId="{2232E5E2-D588-449B-9529-E767676EE32C}" destId="{6F93D09E-9676-45E7-9F8A-94CFC641BBFC}" srcOrd="2" destOrd="0" presId="urn:microsoft.com/office/officeart/2008/layout/LinedList"/>
    <dgm:cxn modelId="{E854CECD-504B-4AD6-B001-584B89D4E534}" type="presParOf" srcId="{2232E5E2-D588-449B-9529-E767676EE32C}" destId="{C95B6CB4-598B-4116-8193-B3FA07A3DE6A}" srcOrd="3" destOrd="0" presId="urn:microsoft.com/office/officeart/2008/layout/LinedList"/>
    <dgm:cxn modelId="{52A9297A-62D4-4FBF-929A-F7F8D52C8BC0}" type="presParOf" srcId="{C95B6CB4-598B-4116-8193-B3FA07A3DE6A}" destId="{B227CBDC-0024-4B3A-B4C2-92DE2440ABD4}" srcOrd="0" destOrd="0" presId="urn:microsoft.com/office/officeart/2008/layout/LinedList"/>
    <dgm:cxn modelId="{91533240-E7E6-47B8-BACB-19C90AC965AA}" type="presParOf" srcId="{C95B6CB4-598B-4116-8193-B3FA07A3DE6A}" destId="{402959C5-D0A9-4F7A-9276-C3C094D3F926}" srcOrd="1" destOrd="0" presId="urn:microsoft.com/office/officeart/2008/layout/LinedList"/>
    <dgm:cxn modelId="{AD11C898-FA5F-4A93-BFB2-2D8EFFE1EBB8}" type="presParOf" srcId="{2232E5E2-D588-449B-9529-E767676EE32C}" destId="{99BC990F-CE4A-4446-93C4-AE822DDBB47F}" srcOrd="4" destOrd="0" presId="urn:microsoft.com/office/officeart/2008/layout/LinedList"/>
    <dgm:cxn modelId="{61B30A93-4613-43FB-B6C9-503C156B3940}" type="presParOf" srcId="{2232E5E2-D588-449B-9529-E767676EE32C}" destId="{4023FB18-217E-47C6-85CE-6AA798387995}" srcOrd="5" destOrd="0" presId="urn:microsoft.com/office/officeart/2008/layout/LinedList"/>
    <dgm:cxn modelId="{5402FE0E-0261-4F4B-8713-D6258346B226}" type="presParOf" srcId="{4023FB18-217E-47C6-85CE-6AA798387995}" destId="{2F3F7C25-6D4E-4503-859E-4D4D99AF70F0}" srcOrd="0" destOrd="0" presId="urn:microsoft.com/office/officeart/2008/layout/LinedList"/>
    <dgm:cxn modelId="{4E5581AC-5BF8-468B-9DE1-D0AB4A463EA8}" type="presParOf" srcId="{4023FB18-217E-47C6-85CE-6AA798387995}" destId="{21B1637F-0E29-46DC-B2E7-AC07F1919721}" srcOrd="1" destOrd="0" presId="urn:microsoft.com/office/officeart/2008/layout/LinedList"/>
    <dgm:cxn modelId="{1FA82320-588A-4AB2-A406-7188D039F862}" type="presParOf" srcId="{2232E5E2-D588-449B-9529-E767676EE32C}" destId="{A0B9E884-7296-4AD7-85D8-3D6C8BCCA308}" srcOrd="6" destOrd="0" presId="urn:microsoft.com/office/officeart/2008/layout/LinedList"/>
    <dgm:cxn modelId="{BB686C94-537B-4B07-84E3-1743C5D40A03}" type="presParOf" srcId="{2232E5E2-D588-449B-9529-E767676EE32C}" destId="{1E514680-9CF8-4AA0-9E4F-4086262B1DD8}" srcOrd="7" destOrd="0" presId="urn:microsoft.com/office/officeart/2008/layout/LinedList"/>
    <dgm:cxn modelId="{1873C94F-4CC5-43BD-BE91-0621450E9041}" type="presParOf" srcId="{1E514680-9CF8-4AA0-9E4F-4086262B1DD8}" destId="{1D361A73-EB71-483C-90E7-43F7108F216B}" srcOrd="0" destOrd="0" presId="urn:microsoft.com/office/officeart/2008/layout/LinedList"/>
    <dgm:cxn modelId="{FC1B0EE3-9000-4C86-83D6-14A00E9B7DCB}" type="presParOf" srcId="{1E514680-9CF8-4AA0-9E4F-4086262B1DD8}" destId="{E7A07355-1945-40F9-8C9D-5F5C7C7D7EC2}" srcOrd="1" destOrd="0" presId="urn:microsoft.com/office/officeart/2008/layout/LinedList"/>
    <dgm:cxn modelId="{DF975CCC-1BCC-40C8-A99F-4117C9F7EB40}" type="presParOf" srcId="{2232E5E2-D588-449B-9529-E767676EE32C}" destId="{E380B59E-8126-43FE-9884-5CDC4A2EEE39}" srcOrd="8" destOrd="0" presId="urn:microsoft.com/office/officeart/2008/layout/LinedList"/>
    <dgm:cxn modelId="{951820E6-36D9-4A4D-88A1-F35C9FBA9C6B}" type="presParOf" srcId="{2232E5E2-D588-449B-9529-E767676EE32C}" destId="{B5A32640-CD54-42D3-8B22-CFF64A9CC8C7}" srcOrd="9" destOrd="0" presId="urn:microsoft.com/office/officeart/2008/layout/LinedList"/>
    <dgm:cxn modelId="{5A944B9E-08E3-4683-8786-52F8A58E1B1C}" type="presParOf" srcId="{B5A32640-CD54-42D3-8B22-CFF64A9CC8C7}" destId="{C77952C5-E4F0-49AE-A0AF-D5C804679A67}" srcOrd="0" destOrd="0" presId="urn:microsoft.com/office/officeart/2008/layout/LinedList"/>
    <dgm:cxn modelId="{9E42B651-A292-4C3F-8E05-266856A5A42B}" type="presParOf" srcId="{B5A32640-CD54-42D3-8B22-CFF64A9CC8C7}" destId="{3EB9CC93-5F7B-47EA-9339-5DE47FAFBA0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2BB9CFB-A0A5-48C3-BB58-388C9022AFA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2573FB-71F5-431C-A8DD-07B09CE8F8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Primary Tool:</a:t>
          </a:r>
          <a:r>
            <a:rPr lang="en-US"/>
            <a:t> Nixtla AutoML / StatsForecast was selected as the core framework.</a:t>
          </a:r>
        </a:p>
      </dgm:t>
    </dgm:pt>
    <dgm:pt modelId="{4CB5D630-B639-467B-9034-0C267F3B8975}" type="parTrans" cxnId="{F1999DD3-B6B2-4CA8-BC99-2274960CBA25}">
      <dgm:prSet/>
      <dgm:spPr/>
      <dgm:t>
        <a:bodyPr/>
        <a:lstStyle/>
        <a:p>
          <a:endParaRPr lang="en-US"/>
        </a:p>
      </dgm:t>
    </dgm:pt>
    <dgm:pt modelId="{0D7E31B4-24E2-40D0-848B-D89E52C6EA81}" type="sibTrans" cxnId="{F1999DD3-B6B2-4CA8-BC99-2274960CBA25}">
      <dgm:prSet/>
      <dgm:spPr/>
      <dgm:t>
        <a:bodyPr/>
        <a:lstStyle/>
        <a:p>
          <a:endParaRPr lang="en-US"/>
        </a:p>
      </dgm:t>
    </dgm:pt>
    <dgm:pt modelId="{A0D9D184-EB81-4A15-A5B5-2A01AB9B407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Justification:</a:t>
          </a:r>
          <a:r>
            <a:rPr lang="en-US"/>
            <a:t> StatsForecast provides "lightning-fast" forecasting using diverse statistical and econometric models (AutoARIMA, AutoETS, MSTL, etc.) that outperform traditional deep learning in computational efficiency on standard time-series tasks.</a:t>
          </a:r>
        </a:p>
      </dgm:t>
    </dgm:pt>
    <dgm:pt modelId="{6AC02467-0244-4ABC-A6E7-C5552420A2FF}" type="parTrans" cxnId="{126EB52F-B2B3-4E34-800C-44DF400E37BB}">
      <dgm:prSet/>
      <dgm:spPr/>
      <dgm:t>
        <a:bodyPr/>
        <a:lstStyle/>
        <a:p>
          <a:endParaRPr lang="en-US"/>
        </a:p>
      </dgm:t>
    </dgm:pt>
    <dgm:pt modelId="{374BB018-4933-4534-A28D-73E3C0817056}" type="sibTrans" cxnId="{126EB52F-B2B3-4E34-800C-44DF400E37BB}">
      <dgm:prSet/>
      <dgm:spPr/>
      <dgm:t>
        <a:bodyPr/>
        <a:lstStyle/>
        <a:p>
          <a:endParaRPr lang="en-US"/>
        </a:p>
      </dgm:t>
    </dgm:pt>
    <dgm:pt modelId="{7B1D5D87-A1AC-4D29-BC09-53EA3F4CB1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The AutoML Advantage:</a:t>
          </a:r>
          <a:r>
            <a:rPr lang="en-US"/>
            <a:t> The framework automatically selects the optimal model by evaluating candidate algorithms using a Rolling-Origin Cross-Validation strategy.</a:t>
          </a:r>
        </a:p>
      </dgm:t>
    </dgm:pt>
    <dgm:pt modelId="{FA1A2B2C-0FBF-4641-BB40-6D452CC89FDC}" type="parTrans" cxnId="{9461BAFF-9063-4E3F-8B7A-C4C4791AE948}">
      <dgm:prSet/>
      <dgm:spPr/>
      <dgm:t>
        <a:bodyPr/>
        <a:lstStyle/>
        <a:p>
          <a:endParaRPr lang="en-US"/>
        </a:p>
      </dgm:t>
    </dgm:pt>
    <dgm:pt modelId="{0DAD8BB8-D653-47C9-A279-9C3BACD84691}" type="sibTrans" cxnId="{9461BAFF-9063-4E3F-8B7A-C4C4791AE948}">
      <dgm:prSet/>
      <dgm:spPr/>
      <dgm:t>
        <a:bodyPr/>
        <a:lstStyle/>
        <a:p>
          <a:endParaRPr lang="en-US"/>
        </a:p>
      </dgm:t>
    </dgm:pt>
    <dgm:pt modelId="{B2D92FFA-0C2A-408E-B12E-7804F0D70F9D}" type="pres">
      <dgm:prSet presAssocID="{F2BB9CFB-A0A5-48C3-BB58-388C9022AFA4}" presName="root" presStyleCnt="0">
        <dgm:presLayoutVars>
          <dgm:dir/>
          <dgm:resizeHandles val="exact"/>
        </dgm:presLayoutVars>
      </dgm:prSet>
      <dgm:spPr/>
    </dgm:pt>
    <dgm:pt modelId="{0D1C3BDC-A498-4A59-9567-FC3E51C8686F}" type="pres">
      <dgm:prSet presAssocID="{FF2573FB-71F5-431C-A8DD-07B09CE8F825}" presName="compNode" presStyleCnt="0"/>
      <dgm:spPr/>
    </dgm:pt>
    <dgm:pt modelId="{6A8A9EC3-0A0E-4A56-A16E-14B125F9A600}" type="pres">
      <dgm:prSet presAssocID="{FF2573FB-71F5-431C-A8DD-07B09CE8F82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DE479AF6-2008-416B-9C02-369D8B8B6A23}" type="pres">
      <dgm:prSet presAssocID="{FF2573FB-71F5-431C-A8DD-07B09CE8F825}" presName="spaceRect" presStyleCnt="0"/>
      <dgm:spPr/>
    </dgm:pt>
    <dgm:pt modelId="{DDF9B866-4F96-4705-87D2-4E5403C0C092}" type="pres">
      <dgm:prSet presAssocID="{FF2573FB-71F5-431C-A8DD-07B09CE8F825}" presName="textRect" presStyleLbl="revTx" presStyleIdx="0" presStyleCnt="3">
        <dgm:presLayoutVars>
          <dgm:chMax val="1"/>
          <dgm:chPref val="1"/>
        </dgm:presLayoutVars>
      </dgm:prSet>
      <dgm:spPr/>
    </dgm:pt>
    <dgm:pt modelId="{199D0557-53D7-46A0-9F0B-17487029F431}" type="pres">
      <dgm:prSet presAssocID="{0D7E31B4-24E2-40D0-848B-D89E52C6EA81}" presName="sibTrans" presStyleCnt="0"/>
      <dgm:spPr/>
    </dgm:pt>
    <dgm:pt modelId="{2B35169F-0A5E-46D0-9E0D-5AC15C0658A9}" type="pres">
      <dgm:prSet presAssocID="{A0D9D184-EB81-4A15-A5B5-2A01AB9B407C}" presName="compNode" presStyleCnt="0"/>
      <dgm:spPr/>
    </dgm:pt>
    <dgm:pt modelId="{4ABB2535-9503-48B0-B2AA-C25C651CEA11}" type="pres">
      <dgm:prSet presAssocID="{A0D9D184-EB81-4A15-A5B5-2A01AB9B407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F4128904-40E0-45F0-B50E-CB8C24972D3F}" type="pres">
      <dgm:prSet presAssocID="{A0D9D184-EB81-4A15-A5B5-2A01AB9B407C}" presName="spaceRect" presStyleCnt="0"/>
      <dgm:spPr/>
    </dgm:pt>
    <dgm:pt modelId="{CD6B1808-435B-4FFC-A5D4-582B4251707B}" type="pres">
      <dgm:prSet presAssocID="{A0D9D184-EB81-4A15-A5B5-2A01AB9B407C}" presName="textRect" presStyleLbl="revTx" presStyleIdx="1" presStyleCnt="3">
        <dgm:presLayoutVars>
          <dgm:chMax val="1"/>
          <dgm:chPref val="1"/>
        </dgm:presLayoutVars>
      </dgm:prSet>
      <dgm:spPr/>
    </dgm:pt>
    <dgm:pt modelId="{F0C09D4F-3E9C-4927-864B-F07074B7EFCD}" type="pres">
      <dgm:prSet presAssocID="{374BB018-4933-4534-A28D-73E3C0817056}" presName="sibTrans" presStyleCnt="0"/>
      <dgm:spPr/>
    </dgm:pt>
    <dgm:pt modelId="{36E492F4-0E0C-425B-98DA-0A34C63D567E}" type="pres">
      <dgm:prSet presAssocID="{7B1D5D87-A1AC-4D29-BC09-53EA3F4CB1B9}" presName="compNode" presStyleCnt="0"/>
      <dgm:spPr/>
    </dgm:pt>
    <dgm:pt modelId="{FBE52B81-E9DC-4878-AA48-384D8707440C}" type="pres">
      <dgm:prSet presAssocID="{7B1D5D87-A1AC-4D29-BC09-53EA3F4CB1B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1C20F054-7793-45E4-8D38-7CDB27AA0A62}" type="pres">
      <dgm:prSet presAssocID="{7B1D5D87-A1AC-4D29-BC09-53EA3F4CB1B9}" presName="spaceRect" presStyleCnt="0"/>
      <dgm:spPr/>
    </dgm:pt>
    <dgm:pt modelId="{1A8237DB-D888-45C4-AF3C-E1195F1AA1E3}" type="pres">
      <dgm:prSet presAssocID="{7B1D5D87-A1AC-4D29-BC09-53EA3F4CB1B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26EB52F-B2B3-4E34-800C-44DF400E37BB}" srcId="{F2BB9CFB-A0A5-48C3-BB58-388C9022AFA4}" destId="{A0D9D184-EB81-4A15-A5B5-2A01AB9B407C}" srcOrd="1" destOrd="0" parTransId="{6AC02467-0244-4ABC-A6E7-C5552420A2FF}" sibTransId="{374BB018-4933-4534-A28D-73E3C0817056}"/>
    <dgm:cxn modelId="{C7E2953A-8524-4062-8FE3-BC723E5D7EBF}" type="presOf" srcId="{F2BB9CFB-A0A5-48C3-BB58-388C9022AFA4}" destId="{B2D92FFA-0C2A-408E-B12E-7804F0D70F9D}" srcOrd="0" destOrd="0" presId="urn:microsoft.com/office/officeart/2018/2/layout/IconLabelList"/>
    <dgm:cxn modelId="{90924F49-745C-4C00-9DA3-C8D308464A12}" type="presOf" srcId="{A0D9D184-EB81-4A15-A5B5-2A01AB9B407C}" destId="{CD6B1808-435B-4FFC-A5D4-582B4251707B}" srcOrd="0" destOrd="0" presId="urn:microsoft.com/office/officeart/2018/2/layout/IconLabelList"/>
    <dgm:cxn modelId="{517AEAA3-8F47-4FF6-8B1B-B8C3DE894F2B}" type="presOf" srcId="{FF2573FB-71F5-431C-A8DD-07B09CE8F825}" destId="{DDF9B866-4F96-4705-87D2-4E5403C0C092}" srcOrd="0" destOrd="0" presId="urn:microsoft.com/office/officeart/2018/2/layout/IconLabelList"/>
    <dgm:cxn modelId="{65D9A9D0-B385-4B7C-86CA-ED94C701A5B7}" type="presOf" srcId="{7B1D5D87-A1AC-4D29-BC09-53EA3F4CB1B9}" destId="{1A8237DB-D888-45C4-AF3C-E1195F1AA1E3}" srcOrd="0" destOrd="0" presId="urn:microsoft.com/office/officeart/2018/2/layout/IconLabelList"/>
    <dgm:cxn modelId="{F1999DD3-B6B2-4CA8-BC99-2274960CBA25}" srcId="{F2BB9CFB-A0A5-48C3-BB58-388C9022AFA4}" destId="{FF2573FB-71F5-431C-A8DD-07B09CE8F825}" srcOrd="0" destOrd="0" parTransId="{4CB5D630-B639-467B-9034-0C267F3B8975}" sibTransId="{0D7E31B4-24E2-40D0-848B-D89E52C6EA81}"/>
    <dgm:cxn modelId="{9461BAFF-9063-4E3F-8B7A-C4C4791AE948}" srcId="{F2BB9CFB-A0A5-48C3-BB58-388C9022AFA4}" destId="{7B1D5D87-A1AC-4D29-BC09-53EA3F4CB1B9}" srcOrd="2" destOrd="0" parTransId="{FA1A2B2C-0FBF-4641-BB40-6D452CC89FDC}" sibTransId="{0DAD8BB8-D653-47C9-A279-9C3BACD84691}"/>
    <dgm:cxn modelId="{5C763A5B-BDCC-477E-9EAB-D6140C391813}" type="presParOf" srcId="{B2D92FFA-0C2A-408E-B12E-7804F0D70F9D}" destId="{0D1C3BDC-A498-4A59-9567-FC3E51C8686F}" srcOrd="0" destOrd="0" presId="urn:microsoft.com/office/officeart/2018/2/layout/IconLabelList"/>
    <dgm:cxn modelId="{DA676FC9-FB81-4C23-B991-7F2C15FE7BE9}" type="presParOf" srcId="{0D1C3BDC-A498-4A59-9567-FC3E51C8686F}" destId="{6A8A9EC3-0A0E-4A56-A16E-14B125F9A600}" srcOrd="0" destOrd="0" presId="urn:microsoft.com/office/officeart/2018/2/layout/IconLabelList"/>
    <dgm:cxn modelId="{3D9C9841-EAF5-4F07-9AB3-0174B73F986D}" type="presParOf" srcId="{0D1C3BDC-A498-4A59-9567-FC3E51C8686F}" destId="{DE479AF6-2008-416B-9C02-369D8B8B6A23}" srcOrd="1" destOrd="0" presId="urn:microsoft.com/office/officeart/2018/2/layout/IconLabelList"/>
    <dgm:cxn modelId="{D2698F04-E785-42E5-9E26-76255CB80964}" type="presParOf" srcId="{0D1C3BDC-A498-4A59-9567-FC3E51C8686F}" destId="{DDF9B866-4F96-4705-87D2-4E5403C0C092}" srcOrd="2" destOrd="0" presId="urn:microsoft.com/office/officeart/2018/2/layout/IconLabelList"/>
    <dgm:cxn modelId="{FD6F3782-AFDB-41EC-811F-1D023C36C859}" type="presParOf" srcId="{B2D92FFA-0C2A-408E-B12E-7804F0D70F9D}" destId="{199D0557-53D7-46A0-9F0B-17487029F431}" srcOrd="1" destOrd="0" presId="urn:microsoft.com/office/officeart/2018/2/layout/IconLabelList"/>
    <dgm:cxn modelId="{9D8D67D6-97A0-4783-85B7-9184866FED8C}" type="presParOf" srcId="{B2D92FFA-0C2A-408E-B12E-7804F0D70F9D}" destId="{2B35169F-0A5E-46D0-9E0D-5AC15C0658A9}" srcOrd="2" destOrd="0" presId="urn:microsoft.com/office/officeart/2018/2/layout/IconLabelList"/>
    <dgm:cxn modelId="{2E19FF78-3A59-4812-A20C-F7A8EC0EBB56}" type="presParOf" srcId="{2B35169F-0A5E-46D0-9E0D-5AC15C0658A9}" destId="{4ABB2535-9503-48B0-B2AA-C25C651CEA11}" srcOrd="0" destOrd="0" presId="urn:microsoft.com/office/officeart/2018/2/layout/IconLabelList"/>
    <dgm:cxn modelId="{5E9AD8F3-4168-47FE-A29E-930D5C48648E}" type="presParOf" srcId="{2B35169F-0A5E-46D0-9E0D-5AC15C0658A9}" destId="{F4128904-40E0-45F0-B50E-CB8C24972D3F}" srcOrd="1" destOrd="0" presId="urn:microsoft.com/office/officeart/2018/2/layout/IconLabelList"/>
    <dgm:cxn modelId="{12BFCB7A-39B2-4F8F-8F21-29AD39DE24E7}" type="presParOf" srcId="{2B35169F-0A5E-46D0-9E0D-5AC15C0658A9}" destId="{CD6B1808-435B-4FFC-A5D4-582B4251707B}" srcOrd="2" destOrd="0" presId="urn:microsoft.com/office/officeart/2018/2/layout/IconLabelList"/>
    <dgm:cxn modelId="{9D03F12C-914F-44E1-9D35-9D073929B806}" type="presParOf" srcId="{B2D92FFA-0C2A-408E-B12E-7804F0D70F9D}" destId="{F0C09D4F-3E9C-4927-864B-F07074B7EFCD}" srcOrd="3" destOrd="0" presId="urn:microsoft.com/office/officeart/2018/2/layout/IconLabelList"/>
    <dgm:cxn modelId="{7435DFEF-AC9A-40B9-998E-605DA3291622}" type="presParOf" srcId="{B2D92FFA-0C2A-408E-B12E-7804F0D70F9D}" destId="{36E492F4-0E0C-425B-98DA-0A34C63D567E}" srcOrd="4" destOrd="0" presId="urn:microsoft.com/office/officeart/2018/2/layout/IconLabelList"/>
    <dgm:cxn modelId="{B2DE4D51-E342-4A75-A267-36BB8077A270}" type="presParOf" srcId="{36E492F4-0E0C-425B-98DA-0A34C63D567E}" destId="{FBE52B81-E9DC-4878-AA48-384D8707440C}" srcOrd="0" destOrd="0" presId="urn:microsoft.com/office/officeart/2018/2/layout/IconLabelList"/>
    <dgm:cxn modelId="{E350D069-8CFA-4BD8-96BC-0C6CC23065BE}" type="presParOf" srcId="{36E492F4-0E0C-425B-98DA-0A34C63D567E}" destId="{1C20F054-7793-45E4-8D38-7CDB27AA0A62}" srcOrd="1" destOrd="0" presId="urn:microsoft.com/office/officeart/2018/2/layout/IconLabelList"/>
    <dgm:cxn modelId="{61B70AEA-590C-4F68-A6CC-44DE6C209631}" type="presParOf" srcId="{36E492F4-0E0C-425B-98DA-0A34C63D567E}" destId="{1A8237DB-D888-45C4-AF3C-E1195F1AA1E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40F9E6-56D8-46A0-AF2C-F73872452B4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D88BF58-3DC2-4444-8253-33D9C6E3F005}">
      <dgm:prSet custT="1"/>
      <dgm:spPr/>
      <dgm:t>
        <a:bodyPr/>
        <a:lstStyle/>
        <a:p>
          <a:r>
            <a:rPr lang="en-US" sz="2000"/>
            <a:t>Enhancing the model's intelligence through domain-specific context:</a:t>
          </a:r>
          <a:endParaRPr lang="en-US" sz="2000" dirty="0"/>
        </a:p>
      </dgm:t>
    </dgm:pt>
    <dgm:pt modelId="{FA0E796D-0ADA-4025-A9C2-FDA04E67524C}" type="parTrans" cxnId="{CFD92A5C-DA4F-458C-9D1D-D28ABB0DD5DE}">
      <dgm:prSet/>
      <dgm:spPr/>
      <dgm:t>
        <a:bodyPr/>
        <a:lstStyle/>
        <a:p>
          <a:endParaRPr lang="en-US"/>
        </a:p>
      </dgm:t>
    </dgm:pt>
    <dgm:pt modelId="{5EC766D7-0FCA-4494-ADA4-C12FDFF61D8C}" type="sibTrans" cxnId="{CFD92A5C-DA4F-458C-9D1D-D28ABB0DD5DE}">
      <dgm:prSet/>
      <dgm:spPr/>
      <dgm:t>
        <a:bodyPr/>
        <a:lstStyle/>
        <a:p>
          <a:endParaRPr lang="en-US"/>
        </a:p>
      </dgm:t>
    </dgm:pt>
    <dgm:pt modelId="{F6C64F6E-572C-496F-B5EE-14119A99EF8D}">
      <dgm:prSet/>
      <dgm:spPr/>
      <dgm:t>
        <a:bodyPr/>
        <a:lstStyle/>
        <a:p>
          <a:r>
            <a:rPr lang="en-US" sz="2000" b="1"/>
            <a:t>Seasonal Context:</a:t>
          </a:r>
          <a:r>
            <a:rPr lang="en-US" sz="2000"/>
            <a:t> Engineered categorical labels mapping months to regional climates (e.g., Winter, Monsoon, Summer).</a:t>
          </a:r>
          <a:endParaRPr lang="en-US" sz="2000" dirty="0"/>
        </a:p>
      </dgm:t>
    </dgm:pt>
    <dgm:pt modelId="{E51912D3-C694-45CA-9AEB-519B740A8A96}" type="parTrans" cxnId="{8CB97A0A-5790-44F3-82F0-C775B092D8FE}">
      <dgm:prSet/>
      <dgm:spPr/>
      <dgm:t>
        <a:bodyPr/>
        <a:lstStyle/>
        <a:p>
          <a:endParaRPr lang="en-US"/>
        </a:p>
      </dgm:t>
    </dgm:pt>
    <dgm:pt modelId="{DCD229B1-9E34-43F6-9E9C-C99AB0EA0ED8}" type="sibTrans" cxnId="{8CB97A0A-5790-44F3-82F0-C775B092D8FE}">
      <dgm:prSet/>
      <dgm:spPr/>
      <dgm:t>
        <a:bodyPr/>
        <a:lstStyle/>
        <a:p>
          <a:endParaRPr lang="en-US"/>
        </a:p>
      </dgm:t>
    </dgm:pt>
    <dgm:pt modelId="{58030465-4F90-4D23-8CDD-8FE30C8810D0}">
      <dgm:prSet/>
      <dgm:spPr/>
      <dgm:t>
        <a:bodyPr/>
        <a:lstStyle/>
        <a:p>
          <a:r>
            <a:rPr lang="en-US" sz="2000" b="1"/>
            <a:t>Timing Labels:</a:t>
          </a:r>
          <a:r>
            <a:rPr lang="en-US" sz="2000"/>
            <a:t> Classified data by time of day (Morning, Afternoon, Evening, Night) to capture diurnal temperature fluctuations.</a:t>
          </a:r>
          <a:endParaRPr lang="en-US" sz="2000" dirty="0"/>
        </a:p>
      </dgm:t>
    </dgm:pt>
    <dgm:pt modelId="{410028C5-FBF3-41FF-ACC3-0A2D149E3ED0}" type="parTrans" cxnId="{E386F1E2-F18A-4338-8D8E-748661DEFD8D}">
      <dgm:prSet/>
      <dgm:spPr/>
      <dgm:t>
        <a:bodyPr/>
        <a:lstStyle/>
        <a:p>
          <a:endParaRPr lang="en-US"/>
        </a:p>
      </dgm:t>
    </dgm:pt>
    <dgm:pt modelId="{8321B1B3-9BF3-480B-9967-D11B1B3D2053}" type="sibTrans" cxnId="{E386F1E2-F18A-4338-8D8E-748661DEFD8D}">
      <dgm:prSet/>
      <dgm:spPr/>
      <dgm:t>
        <a:bodyPr/>
        <a:lstStyle/>
        <a:p>
          <a:endParaRPr lang="en-US"/>
        </a:p>
      </dgm:t>
    </dgm:pt>
    <dgm:pt modelId="{F72F88DF-C9F3-49F2-8BB1-247B59CC1FDB}">
      <dgm:prSet/>
      <dgm:spPr/>
      <dgm:t>
        <a:bodyPr/>
        <a:lstStyle/>
        <a:p>
          <a:r>
            <a:rPr lang="en-US" sz="2000" b="1" dirty="0"/>
            <a:t>Exogenous Variables:</a:t>
          </a:r>
          <a:r>
            <a:rPr lang="en-US" sz="2000" dirty="0"/>
            <a:t> Incorporated "In/Out" sensor placement as an additional predictor to improve model accuracy.</a:t>
          </a:r>
        </a:p>
      </dgm:t>
    </dgm:pt>
    <dgm:pt modelId="{9839BBA9-CE47-4FA2-A596-F574E3E427E4}" type="parTrans" cxnId="{6F8C8CA6-D806-4DE6-B661-847BD46BC7B4}">
      <dgm:prSet/>
      <dgm:spPr/>
      <dgm:t>
        <a:bodyPr/>
        <a:lstStyle/>
        <a:p>
          <a:endParaRPr lang="en-US"/>
        </a:p>
      </dgm:t>
    </dgm:pt>
    <dgm:pt modelId="{8EC363B5-2FFE-4EF3-8803-28ACEAD566F4}" type="sibTrans" cxnId="{6F8C8CA6-D806-4DE6-B661-847BD46BC7B4}">
      <dgm:prSet/>
      <dgm:spPr/>
      <dgm:t>
        <a:bodyPr/>
        <a:lstStyle/>
        <a:p>
          <a:endParaRPr lang="en-US"/>
        </a:p>
      </dgm:t>
    </dgm:pt>
    <dgm:pt modelId="{F7BFAF4F-F7D5-4C73-9A07-81091D56E1EB}" type="pres">
      <dgm:prSet presAssocID="{3C40F9E6-56D8-46A0-AF2C-F73872452B4E}" presName="vert0" presStyleCnt="0">
        <dgm:presLayoutVars>
          <dgm:dir/>
          <dgm:animOne val="branch"/>
          <dgm:animLvl val="lvl"/>
        </dgm:presLayoutVars>
      </dgm:prSet>
      <dgm:spPr/>
    </dgm:pt>
    <dgm:pt modelId="{D9F6582A-56E1-47FB-9D61-D2398A9C267B}" type="pres">
      <dgm:prSet presAssocID="{5D88BF58-3DC2-4444-8253-33D9C6E3F005}" presName="thickLine" presStyleLbl="alignNode1" presStyleIdx="0" presStyleCnt="1"/>
      <dgm:spPr/>
    </dgm:pt>
    <dgm:pt modelId="{3CD7C494-1632-4B4A-A0C4-909328615599}" type="pres">
      <dgm:prSet presAssocID="{5D88BF58-3DC2-4444-8253-33D9C6E3F005}" presName="horz1" presStyleCnt="0"/>
      <dgm:spPr/>
    </dgm:pt>
    <dgm:pt modelId="{F4761A2B-9759-4799-9F3E-4B8ECBEA5FEA}" type="pres">
      <dgm:prSet presAssocID="{5D88BF58-3DC2-4444-8253-33D9C6E3F005}" presName="tx1" presStyleLbl="revTx" presStyleIdx="0" presStyleCnt="4"/>
      <dgm:spPr/>
    </dgm:pt>
    <dgm:pt modelId="{B18EAF55-0F16-4B05-91C1-7E20504C86D6}" type="pres">
      <dgm:prSet presAssocID="{5D88BF58-3DC2-4444-8253-33D9C6E3F005}" presName="vert1" presStyleCnt="0"/>
      <dgm:spPr/>
    </dgm:pt>
    <dgm:pt modelId="{898DF492-2DA6-48DE-8282-CA911E7FDF3B}" type="pres">
      <dgm:prSet presAssocID="{F6C64F6E-572C-496F-B5EE-14119A99EF8D}" presName="vertSpace2a" presStyleCnt="0"/>
      <dgm:spPr/>
    </dgm:pt>
    <dgm:pt modelId="{062C2A3C-C246-496B-9497-BD044DFB0194}" type="pres">
      <dgm:prSet presAssocID="{F6C64F6E-572C-496F-B5EE-14119A99EF8D}" presName="horz2" presStyleCnt="0"/>
      <dgm:spPr/>
    </dgm:pt>
    <dgm:pt modelId="{09178762-703C-4870-8BF1-93244F0C5B6B}" type="pres">
      <dgm:prSet presAssocID="{F6C64F6E-572C-496F-B5EE-14119A99EF8D}" presName="horzSpace2" presStyleCnt="0"/>
      <dgm:spPr/>
    </dgm:pt>
    <dgm:pt modelId="{815B4028-56ED-44B8-9610-D8FE467E8C11}" type="pres">
      <dgm:prSet presAssocID="{F6C64F6E-572C-496F-B5EE-14119A99EF8D}" presName="tx2" presStyleLbl="revTx" presStyleIdx="1" presStyleCnt="4"/>
      <dgm:spPr/>
    </dgm:pt>
    <dgm:pt modelId="{632DDDCC-CB95-44C6-9323-1EA50C5B19F4}" type="pres">
      <dgm:prSet presAssocID="{F6C64F6E-572C-496F-B5EE-14119A99EF8D}" presName="vert2" presStyleCnt="0"/>
      <dgm:spPr/>
    </dgm:pt>
    <dgm:pt modelId="{E5C3A68E-383D-45EA-A1A5-6D7BBE11E3F2}" type="pres">
      <dgm:prSet presAssocID="{F6C64F6E-572C-496F-B5EE-14119A99EF8D}" presName="thinLine2b" presStyleLbl="callout" presStyleIdx="0" presStyleCnt="3"/>
      <dgm:spPr/>
    </dgm:pt>
    <dgm:pt modelId="{DE6799C7-FA9C-44DF-B96B-FE0C32D5623B}" type="pres">
      <dgm:prSet presAssocID="{F6C64F6E-572C-496F-B5EE-14119A99EF8D}" presName="vertSpace2b" presStyleCnt="0"/>
      <dgm:spPr/>
    </dgm:pt>
    <dgm:pt modelId="{4AA53230-69C5-4D48-9A50-BE14A4DFFEBF}" type="pres">
      <dgm:prSet presAssocID="{58030465-4F90-4D23-8CDD-8FE30C8810D0}" presName="horz2" presStyleCnt="0"/>
      <dgm:spPr/>
    </dgm:pt>
    <dgm:pt modelId="{FAE25101-167B-450F-A314-804D7B62E3E3}" type="pres">
      <dgm:prSet presAssocID="{58030465-4F90-4D23-8CDD-8FE30C8810D0}" presName="horzSpace2" presStyleCnt="0"/>
      <dgm:spPr/>
    </dgm:pt>
    <dgm:pt modelId="{F19B7CB2-1B4C-4C8D-AEBC-4B3ADB96B15E}" type="pres">
      <dgm:prSet presAssocID="{58030465-4F90-4D23-8CDD-8FE30C8810D0}" presName="tx2" presStyleLbl="revTx" presStyleIdx="2" presStyleCnt="4"/>
      <dgm:spPr/>
    </dgm:pt>
    <dgm:pt modelId="{79BE8777-19DB-4A37-8FBE-1798B37729A4}" type="pres">
      <dgm:prSet presAssocID="{58030465-4F90-4D23-8CDD-8FE30C8810D0}" presName="vert2" presStyleCnt="0"/>
      <dgm:spPr/>
    </dgm:pt>
    <dgm:pt modelId="{DCCD7968-A9B4-4EFE-BD7C-2E8445E282B9}" type="pres">
      <dgm:prSet presAssocID="{58030465-4F90-4D23-8CDD-8FE30C8810D0}" presName="thinLine2b" presStyleLbl="callout" presStyleIdx="1" presStyleCnt="3"/>
      <dgm:spPr/>
    </dgm:pt>
    <dgm:pt modelId="{66BAECF9-251B-46A2-AA12-E381F091223F}" type="pres">
      <dgm:prSet presAssocID="{58030465-4F90-4D23-8CDD-8FE30C8810D0}" presName="vertSpace2b" presStyleCnt="0"/>
      <dgm:spPr/>
    </dgm:pt>
    <dgm:pt modelId="{9977CC94-CA27-4609-95B0-123C565058C2}" type="pres">
      <dgm:prSet presAssocID="{F72F88DF-C9F3-49F2-8BB1-247B59CC1FDB}" presName="horz2" presStyleCnt="0"/>
      <dgm:spPr/>
    </dgm:pt>
    <dgm:pt modelId="{E9E26B65-AEB6-4C2A-8E57-4673065B5262}" type="pres">
      <dgm:prSet presAssocID="{F72F88DF-C9F3-49F2-8BB1-247B59CC1FDB}" presName="horzSpace2" presStyleCnt="0"/>
      <dgm:spPr/>
    </dgm:pt>
    <dgm:pt modelId="{FA27A7F7-4318-4D06-943E-AFF96660C378}" type="pres">
      <dgm:prSet presAssocID="{F72F88DF-C9F3-49F2-8BB1-247B59CC1FDB}" presName="tx2" presStyleLbl="revTx" presStyleIdx="3" presStyleCnt="4"/>
      <dgm:spPr/>
    </dgm:pt>
    <dgm:pt modelId="{7A2C6FA0-03F7-4608-A155-4BB31C69242D}" type="pres">
      <dgm:prSet presAssocID="{F72F88DF-C9F3-49F2-8BB1-247B59CC1FDB}" presName="vert2" presStyleCnt="0"/>
      <dgm:spPr/>
    </dgm:pt>
    <dgm:pt modelId="{22F9F0E5-777C-47BB-B6F2-1D33AE6FEC33}" type="pres">
      <dgm:prSet presAssocID="{F72F88DF-C9F3-49F2-8BB1-247B59CC1FDB}" presName="thinLine2b" presStyleLbl="callout" presStyleIdx="2" presStyleCnt="3"/>
      <dgm:spPr/>
    </dgm:pt>
    <dgm:pt modelId="{FEB373D1-27E6-4EE6-AB7B-C97136560FFE}" type="pres">
      <dgm:prSet presAssocID="{F72F88DF-C9F3-49F2-8BB1-247B59CC1FDB}" presName="vertSpace2b" presStyleCnt="0"/>
      <dgm:spPr/>
    </dgm:pt>
  </dgm:ptLst>
  <dgm:cxnLst>
    <dgm:cxn modelId="{8CB97A0A-5790-44F3-82F0-C775B092D8FE}" srcId="{5D88BF58-3DC2-4444-8253-33D9C6E3F005}" destId="{F6C64F6E-572C-496F-B5EE-14119A99EF8D}" srcOrd="0" destOrd="0" parTransId="{E51912D3-C694-45CA-9AEB-519B740A8A96}" sibTransId="{DCD229B1-9E34-43F6-9E9C-C99AB0EA0ED8}"/>
    <dgm:cxn modelId="{1A9D3B27-3A82-47EF-8D33-E1747791F674}" type="presOf" srcId="{3C40F9E6-56D8-46A0-AF2C-F73872452B4E}" destId="{F7BFAF4F-F7D5-4C73-9A07-81091D56E1EB}" srcOrd="0" destOrd="0" presId="urn:microsoft.com/office/officeart/2008/layout/LinedList"/>
    <dgm:cxn modelId="{CFD92A5C-DA4F-458C-9D1D-D28ABB0DD5DE}" srcId="{3C40F9E6-56D8-46A0-AF2C-F73872452B4E}" destId="{5D88BF58-3DC2-4444-8253-33D9C6E3F005}" srcOrd="0" destOrd="0" parTransId="{FA0E796D-0ADA-4025-A9C2-FDA04E67524C}" sibTransId="{5EC766D7-0FCA-4494-ADA4-C12FDFF61D8C}"/>
    <dgm:cxn modelId="{F061E76E-194D-41B0-A874-61876582CDBA}" type="presOf" srcId="{58030465-4F90-4D23-8CDD-8FE30C8810D0}" destId="{F19B7CB2-1B4C-4C8D-AEBC-4B3ADB96B15E}" srcOrd="0" destOrd="0" presId="urn:microsoft.com/office/officeart/2008/layout/LinedList"/>
    <dgm:cxn modelId="{6F8C8CA6-D806-4DE6-B661-847BD46BC7B4}" srcId="{5D88BF58-3DC2-4444-8253-33D9C6E3F005}" destId="{F72F88DF-C9F3-49F2-8BB1-247B59CC1FDB}" srcOrd="2" destOrd="0" parTransId="{9839BBA9-CE47-4FA2-A596-F574E3E427E4}" sibTransId="{8EC363B5-2FFE-4EF3-8803-28ACEAD566F4}"/>
    <dgm:cxn modelId="{0D74FEC2-A594-4DD8-9ACA-FC497F9F00F1}" type="presOf" srcId="{F72F88DF-C9F3-49F2-8BB1-247B59CC1FDB}" destId="{FA27A7F7-4318-4D06-943E-AFF96660C378}" srcOrd="0" destOrd="0" presId="urn:microsoft.com/office/officeart/2008/layout/LinedList"/>
    <dgm:cxn modelId="{F0DDF8CF-FC6E-4A88-AB66-DEC1062D3EB9}" type="presOf" srcId="{F6C64F6E-572C-496F-B5EE-14119A99EF8D}" destId="{815B4028-56ED-44B8-9610-D8FE467E8C11}" srcOrd="0" destOrd="0" presId="urn:microsoft.com/office/officeart/2008/layout/LinedList"/>
    <dgm:cxn modelId="{E386F1E2-F18A-4338-8D8E-748661DEFD8D}" srcId="{5D88BF58-3DC2-4444-8253-33D9C6E3F005}" destId="{58030465-4F90-4D23-8CDD-8FE30C8810D0}" srcOrd="1" destOrd="0" parTransId="{410028C5-FBF3-41FF-ACC3-0A2D149E3ED0}" sibTransId="{8321B1B3-9BF3-480B-9967-D11B1B3D2053}"/>
    <dgm:cxn modelId="{9B6096FD-0348-4181-948B-0E395231F027}" type="presOf" srcId="{5D88BF58-3DC2-4444-8253-33D9C6E3F005}" destId="{F4761A2B-9759-4799-9F3E-4B8ECBEA5FEA}" srcOrd="0" destOrd="0" presId="urn:microsoft.com/office/officeart/2008/layout/LinedList"/>
    <dgm:cxn modelId="{2444B2BB-67AC-494F-9E63-D28AD05F3D14}" type="presParOf" srcId="{F7BFAF4F-F7D5-4C73-9A07-81091D56E1EB}" destId="{D9F6582A-56E1-47FB-9D61-D2398A9C267B}" srcOrd="0" destOrd="0" presId="urn:microsoft.com/office/officeart/2008/layout/LinedList"/>
    <dgm:cxn modelId="{7131A00E-210C-4B4F-9551-B3C8FB955B25}" type="presParOf" srcId="{F7BFAF4F-F7D5-4C73-9A07-81091D56E1EB}" destId="{3CD7C494-1632-4B4A-A0C4-909328615599}" srcOrd="1" destOrd="0" presId="urn:microsoft.com/office/officeart/2008/layout/LinedList"/>
    <dgm:cxn modelId="{442D0F55-5674-4EE9-959D-66045EB53903}" type="presParOf" srcId="{3CD7C494-1632-4B4A-A0C4-909328615599}" destId="{F4761A2B-9759-4799-9F3E-4B8ECBEA5FEA}" srcOrd="0" destOrd="0" presId="urn:microsoft.com/office/officeart/2008/layout/LinedList"/>
    <dgm:cxn modelId="{D5D75F60-8369-4DAE-AD60-66C688F79B54}" type="presParOf" srcId="{3CD7C494-1632-4B4A-A0C4-909328615599}" destId="{B18EAF55-0F16-4B05-91C1-7E20504C86D6}" srcOrd="1" destOrd="0" presId="urn:microsoft.com/office/officeart/2008/layout/LinedList"/>
    <dgm:cxn modelId="{3E280F06-16E6-4ABB-B371-7527CE203DAC}" type="presParOf" srcId="{B18EAF55-0F16-4B05-91C1-7E20504C86D6}" destId="{898DF492-2DA6-48DE-8282-CA911E7FDF3B}" srcOrd="0" destOrd="0" presId="urn:microsoft.com/office/officeart/2008/layout/LinedList"/>
    <dgm:cxn modelId="{53F98784-4619-42D1-8E08-DF28B39D1E18}" type="presParOf" srcId="{B18EAF55-0F16-4B05-91C1-7E20504C86D6}" destId="{062C2A3C-C246-496B-9497-BD044DFB0194}" srcOrd="1" destOrd="0" presId="urn:microsoft.com/office/officeart/2008/layout/LinedList"/>
    <dgm:cxn modelId="{59FA8673-7784-4400-B37C-C09A92CB9AF7}" type="presParOf" srcId="{062C2A3C-C246-496B-9497-BD044DFB0194}" destId="{09178762-703C-4870-8BF1-93244F0C5B6B}" srcOrd="0" destOrd="0" presId="urn:microsoft.com/office/officeart/2008/layout/LinedList"/>
    <dgm:cxn modelId="{74004470-44A7-46FA-8F27-5CA2C5624882}" type="presParOf" srcId="{062C2A3C-C246-496B-9497-BD044DFB0194}" destId="{815B4028-56ED-44B8-9610-D8FE467E8C11}" srcOrd="1" destOrd="0" presId="urn:microsoft.com/office/officeart/2008/layout/LinedList"/>
    <dgm:cxn modelId="{B5C3FF8A-BB1E-42C3-B017-63A43A0828D2}" type="presParOf" srcId="{062C2A3C-C246-496B-9497-BD044DFB0194}" destId="{632DDDCC-CB95-44C6-9323-1EA50C5B19F4}" srcOrd="2" destOrd="0" presId="urn:microsoft.com/office/officeart/2008/layout/LinedList"/>
    <dgm:cxn modelId="{DD364CFD-698E-438A-B60D-95943AF53CC7}" type="presParOf" srcId="{B18EAF55-0F16-4B05-91C1-7E20504C86D6}" destId="{E5C3A68E-383D-45EA-A1A5-6D7BBE11E3F2}" srcOrd="2" destOrd="0" presId="urn:microsoft.com/office/officeart/2008/layout/LinedList"/>
    <dgm:cxn modelId="{E5BCD1CF-B261-4058-BF24-08F7D9CB0502}" type="presParOf" srcId="{B18EAF55-0F16-4B05-91C1-7E20504C86D6}" destId="{DE6799C7-FA9C-44DF-B96B-FE0C32D5623B}" srcOrd="3" destOrd="0" presId="urn:microsoft.com/office/officeart/2008/layout/LinedList"/>
    <dgm:cxn modelId="{6C93CAC8-BA4F-4A4D-A7BB-C37D43144229}" type="presParOf" srcId="{B18EAF55-0F16-4B05-91C1-7E20504C86D6}" destId="{4AA53230-69C5-4D48-9A50-BE14A4DFFEBF}" srcOrd="4" destOrd="0" presId="urn:microsoft.com/office/officeart/2008/layout/LinedList"/>
    <dgm:cxn modelId="{8B98DEC0-E73D-4873-A7D5-4F549B371321}" type="presParOf" srcId="{4AA53230-69C5-4D48-9A50-BE14A4DFFEBF}" destId="{FAE25101-167B-450F-A314-804D7B62E3E3}" srcOrd="0" destOrd="0" presId="urn:microsoft.com/office/officeart/2008/layout/LinedList"/>
    <dgm:cxn modelId="{BB16FFB3-D042-438C-9BE4-CD771D5F26E1}" type="presParOf" srcId="{4AA53230-69C5-4D48-9A50-BE14A4DFFEBF}" destId="{F19B7CB2-1B4C-4C8D-AEBC-4B3ADB96B15E}" srcOrd="1" destOrd="0" presId="urn:microsoft.com/office/officeart/2008/layout/LinedList"/>
    <dgm:cxn modelId="{EE83D78E-0E11-46D1-9294-C215BCBFF59E}" type="presParOf" srcId="{4AA53230-69C5-4D48-9A50-BE14A4DFFEBF}" destId="{79BE8777-19DB-4A37-8FBE-1798B37729A4}" srcOrd="2" destOrd="0" presId="urn:microsoft.com/office/officeart/2008/layout/LinedList"/>
    <dgm:cxn modelId="{7861591E-70AA-4765-AB57-2FF7BB369077}" type="presParOf" srcId="{B18EAF55-0F16-4B05-91C1-7E20504C86D6}" destId="{DCCD7968-A9B4-4EFE-BD7C-2E8445E282B9}" srcOrd="5" destOrd="0" presId="urn:microsoft.com/office/officeart/2008/layout/LinedList"/>
    <dgm:cxn modelId="{C336CFD4-C0CA-41CE-9279-1C688F38346D}" type="presParOf" srcId="{B18EAF55-0F16-4B05-91C1-7E20504C86D6}" destId="{66BAECF9-251B-46A2-AA12-E381F091223F}" srcOrd="6" destOrd="0" presId="urn:microsoft.com/office/officeart/2008/layout/LinedList"/>
    <dgm:cxn modelId="{C6D0E0ED-E2D2-4F37-B8DE-E339E87F7142}" type="presParOf" srcId="{B18EAF55-0F16-4B05-91C1-7E20504C86D6}" destId="{9977CC94-CA27-4609-95B0-123C565058C2}" srcOrd="7" destOrd="0" presId="urn:microsoft.com/office/officeart/2008/layout/LinedList"/>
    <dgm:cxn modelId="{DD23DA6D-1755-4FA9-ADAA-0835254320BA}" type="presParOf" srcId="{9977CC94-CA27-4609-95B0-123C565058C2}" destId="{E9E26B65-AEB6-4C2A-8E57-4673065B5262}" srcOrd="0" destOrd="0" presId="urn:microsoft.com/office/officeart/2008/layout/LinedList"/>
    <dgm:cxn modelId="{ADE42C9F-1987-41FF-8A03-EC041B117E8E}" type="presParOf" srcId="{9977CC94-CA27-4609-95B0-123C565058C2}" destId="{FA27A7F7-4318-4D06-943E-AFF96660C378}" srcOrd="1" destOrd="0" presId="urn:microsoft.com/office/officeart/2008/layout/LinedList"/>
    <dgm:cxn modelId="{E8CBE5E0-3FC9-4049-9104-75816F58D232}" type="presParOf" srcId="{9977CC94-CA27-4609-95B0-123C565058C2}" destId="{7A2C6FA0-03F7-4608-A155-4BB31C69242D}" srcOrd="2" destOrd="0" presId="urn:microsoft.com/office/officeart/2008/layout/LinedList"/>
    <dgm:cxn modelId="{8385DB7F-5464-4434-8E69-3B96B6F21B9B}" type="presParOf" srcId="{B18EAF55-0F16-4B05-91C1-7E20504C86D6}" destId="{22F9F0E5-777C-47BB-B6F2-1D33AE6FEC33}" srcOrd="8" destOrd="0" presId="urn:microsoft.com/office/officeart/2008/layout/LinedList"/>
    <dgm:cxn modelId="{2BD5DE34-54CE-4C7A-9093-48390D7522FF}" type="presParOf" srcId="{B18EAF55-0F16-4B05-91C1-7E20504C86D6}" destId="{FEB373D1-27E6-4EE6-AB7B-C97136560FF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1E488-C118-4493-B174-6F281D3607F5}">
      <dsp:nvSpPr>
        <dsp:cNvPr id="0" name=""/>
        <dsp:cNvSpPr/>
      </dsp:nvSpPr>
      <dsp:spPr>
        <a:xfrm>
          <a:off x="1212569" y="64306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72ABD-9597-4264-A966-A4C765CAF84D}">
      <dsp:nvSpPr>
        <dsp:cNvPr id="0" name=""/>
        <dsp:cNvSpPr/>
      </dsp:nvSpPr>
      <dsp:spPr>
        <a:xfrm>
          <a:off x="417971" y="2403270"/>
          <a:ext cx="2889450" cy="130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Dataset Overview:</a:t>
          </a:r>
          <a:r>
            <a:rPr lang="en-US" sz="1400" kern="1200" dirty="0"/>
            <a:t> The study utilizes the IoT Temperature Readings dataset from Kaggle, consisting of over 97,000 temperature records from an IoT device monitoring internal and external environments.</a:t>
          </a:r>
        </a:p>
      </dsp:txBody>
      <dsp:txXfrm>
        <a:off x="417971" y="2403270"/>
        <a:ext cx="2889450" cy="1305000"/>
      </dsp:txXfrm>
    </dsp:sp>
    <dsp:sp modelId="{8D1F98DE-DABF-40E4-B11C-A0FFD20AC80B}">
      <dsp:nvSpPr>
        <dsp:cNvPr id="0" name=""/>
        <dsp:cNvSpPr/>
      </dsp:nvSpPr>
      <dsp:spPr>
        <a:xfrm>
          <a:off x="4607673" y="64306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3EEB4-AA65-4FBC-B110-296F9B8A4878}">
      <dsp:nvSpPr>
        <dsp:cNvPr id="0" name=""/>
        <dsp:cNvSpPr/>
      </dsp:nvSpPr>
      <dsp:spPr>
        <a:xfrm>
          <a:off x="3813075" y="2403270"/>
          <a:ext cx="2889450" cy="130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Objective:</a:t>
          </a:r>
          <a:r>
            <a:rPr lang="en-US" sz="1400" kern="1200"/>
            <a:t> To develop a robust forecasting model capable of predicting future temperature trends.</a:t>
          </a:r>
        </a:p>
      </dsp:txBody>
      <dsp:txXfrm>
        <a:off x="3813075" y="2403270"/>
        <a:ext cx="2889450" cy="1305000"/>
      </dsp:txXfrm>
    </dsp:sp>
    <dsp:sp modelId="{C6476322-E145-4C03-AAE1-E170A3A516A7}">
      <dsp:nvSpPr>
        <dsp:cNvPr id="0" name=""/>
        <dsp:cNvSpPr/>
      </dsp:nvSpPr>
      <dsp:spPr>
        <a:xfrm>
          <a:off x="8002777" y="643067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E1DFA8-09D5-4792-BC27-B40565CECAD8}">
      <dsp:nvSpPr>
        <dsp:cNvPr id="0" name=""/>
        <dsp:cNvSpPr/>
      </dsp:nvSpPr>
      <dsp:spPr>
        <a:xfrm>
          <a:off x="7208178" y="2403270"/>
          <a:ext cx="2889450" cy="130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The Challenge:</a:t>
          </a:r>
          <a:r>
            <a:rPr lang="en-US" sz="1400" kern="1200" dirty="0"/>
            <a:t> </a:t>
          </a:r>
          <a:r>
            <a:rPr lang="en-US" sz="1400" kern="1200" dirty="0" err="1"/>
            <a:t>IIoT</a:t>
          </a:r>
          <a:r>
            <a:rPr lang="en-US" sz="1400" kern="1200" dirty="0"/>
            <a:t> data is often characterized by irregular sampling, sensor glitches, and environmental noise. We need to transform raw, high-frequency logs into reliable, daily-level insights.</a:t>
          </a:r>
        </a:p>
      </dsp:txBody>
      <dsp:txXfrm>
        <a:off x="7208178" y="2403270"/>
        <a:ext cx="2889450" cy="130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158AD6-A3E0-4971-8C1E-630AE586C608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3A15E-2D56-4EB9-97B7-E227B2A5236E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To ensure high-quality model inputs, the following pipeline was implemented:</a:t>
          </a:r>
        </a:p>
      </dsp:txBody>
      <dsp:txXfrm>
        <a:off x="0" y="531"/>
        <a:ext cx="10515600" cy="870055"/>
      </dsp:txXfrm>
    </dsp:sp>
    <dsp:sp modelId="{6F93D09E-9676-45E7-9F8A-94CFC641BBFC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7CBDC-0024-4B3A-B4C2-92DE2440ABD4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Data Cleaning:</a:t>
          </a:r>
          <a:r>
            <a:rPr lang="en-US" sz="2400" kern="1200"/>
            <a:t> Dropped uninformative columns (e.g., static room IDs) and handled duplicate entries.</a:t>
          </a:r>
        </a:p>
      </dsp:txBody>
      <dsp:txXfrm>
        <a:off x="0" y="870586"/>
        <a:ext cx="10515600" cy="870055"/>
      </dsp:txXfrm>
    </dsp:sp>
    <dsp:sp modelId="{99BC990F-CE4A-4446-93C4-AE822DDBB47F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F7C25-6D4E-4503-859E-4D4D99AF70F0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Feature Extraction:</a:t>
          </a:r>
          <a:r>
            <a:rPr lang="en-US" sz="2400" kern="1200"/>
            <a:t> Parsed timestamps to extract temporal components such as Year, Month, Day, Weekday, and Hour.</a:t>
          </a:r>
        </a:p>
      </dsp:txBody>
      <dsp:txXfrm>
        <a:off x="0" y="1740641"/>
        <a:ext cx="10515600" cy="870055"/>
      </dsp:txXfrm>
    </dsp:sp>
    <dsp:sp modelId="{A0B9E884-7296-4AD7-85D8-3D6C8BCCA308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361A73-EB71-483C-90E7-43F7108F216B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Resampling:</a:t>
          </a:r>
          <a:r>
            <a:rPr lang="en-US" sz="2400" kern="1200"/>
            <a:t> Aggregated raw readings into daily means to reduce noise and provide a consistent time interval for forecasting.</a:t>
          </a:r>
        </a:p>
      </dsp:txBody>
      <dsp:txXfrm>
        <a:off x="0" y="2610696"/>
        <a:ext cx="10515600" cy="870055"/>
      </dsp:txXfrm>
    </dsp:sp>
    <dsp:sp modelId="{E380B59E-8126-43FE-9884-5CDC4A2EEE39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952C5-E4F0-49AE-A0AF-D5C804679A67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Gap Filling:</a:t>
          </a:r>
          <a:r>
            <a:rPr lang="en-US" sz="2400" kern="1200"/>
            <a:t> Applied spline interpolation (5th order) to handle missing dates, ensuring a continuous time-series sequence.</a:t>
          </a:r>
        </a:p>
      </dsp:txBody>
      <dsp:txXfrm>
        <a:off x="0" y="3480751"/>
        <a:ext cx="10515600" cy="8700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A9EC3-0A0E-4A56-A16E-14B125F9A600}">
      <dsp:nvSpPr>
        <dsp:cNvPr id="0" name=""/>
        <dsp:cNvSpPr/>
      </dsp:nvSpPr>
      <dsp:spPr>
        <a:xfrm>
          <a:off x="1212569" y="801904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F9B866-4F96-4705-87D2-4E5403C0C092}">
      <dsp:nvSpPr>
        <dsp:cNvPr id="0" name=""/>
        <dsp:cNvSpPr/>
      </dsp:nvSpPr>
      <dsp:spPr>
        <a:xfrm>
          <a:off x="417971" y="2514433"/>
          <a:ext cx="288945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Primary Tool:</a:t>
          </a:r>
          <a:r>
            <a:rPr lang="en-US" sz="1100" kern="1200"/>
            <a:t> Nixtla AutoML / StatsForecast was selected as the core framework.</a:t>
          </a:r>
        </a:p>
      </dsp:txBody>
      <dsp:txXfrm>
        <a:off x="417971" y="2514433"/>
        <a:ext cx="2889450" cy="1035000"/>
      </dsp:txXfrm>
    </dsp:sp>
    <dsp:sp modelId="{4ABB2535-9503-48B0-B2AA-C25C651CEA11}">
      <dsp:nvSpPr>
        <dsp:cNvPr id="0" name=""/>
        <dsp:cNvSpPr/>
      </dsp:nvSpPr>
      <dsp:spPr>
        <a:xfrm>
          <a:off x="4607673" y="801904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6B1808-435B-4FFC-A5D4-582B4251707B}">
      <dsp:nvSpPr>
        <dsp:cNvPr id="0" name=""/>
        <dsp:cNvSpPr/>
      </dsp:nvSpPr>
      <dsp:spPr>
        <a:xfrm>
          <a:off x="3813075" y="2514433"/>
          <a:ext cx="288945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Justification:</a:t>
          </a:r>
          <a:r>
            <a:rPr lang="en-US" sz="1100" kern="1200"/>
            <a:t> StatsForecast provides "lightning-fast" forecasting using diverse statistical and econometric models (AutoARIMA, AutoETS, MSTL, etc.) that outperform traditional deep learning in computational efficiency on standard time-series tasks.</a:t>
          </a:r>
        </a:p>
      </dsp:txBody>
      <dsp:txXfrm>
        <a:off x="3813075" y="2514433"/>
        <a:ext cx="2889450" cy="1035000"/>
      </dsp:txXfrm>
    </dsp:sp>
    <dsp:sp modelId="{FBE52B81-E9DC-4878-AA48-384D8707440C}">
      <dsp:nvSpPr>
        <dsp:cNvPr id="0" name=""/>
        <dsp:cNvSpPr/>
      </dsp:nvSpPr>
      <dsp:spPr>
        <a:xfrm>
          <a:off x="8002777" y="801904"/>
          <a:ext cx="1300252" cy="130025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8237DB-D888-45C4-AF3C-E1195F1AA1E3}">
      <dsp:nvSpPr>
        <dsp:cNvPr id="0" name=""/>
        <dsp:cNvSpPr/>
      </dsp:nvSpPr>
      <dsp:spPr>
        <a:xfrm>
          <a:off x="7208178" y="2514433"/>
          <a:ext cx="2889450" cy="103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The AutoML Advantage:</a:t>
          </a:r>
          <a:r>
            <a:rPr lang="en-US" sz="1100" kern="1200"/>
            <a:t> The framework automatically selects the optimal model by evaluating candidate algorithms using a Rolling-Origin Cross-Validation strategy.</a:t>
          </a:r>
        </a:p>
      </dsp:txBody>
      <dsp:txXfrm>
        <a:off x="7208178" y="2514433"/>
        <a:ext cx="2889450" cy="1035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F6582A-56E1-47FB-9D61-D2398A9C267B}">
      <dsp:nvSpPr>
        <dsp:cNvPr id="0" name=""/>
        <dsp:cNvSpPr/>
      </dsp:nvSpPr>
      <dsp:spPr>
        <a:xfrm>
          <a:off x="0" y="0"/>
          <a:ext cx="108469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761A2B-9759-4799-9F3E-4B8ECBEA5FEA}">
      <dsp:nvSpPr>
        <dsp:cNvPr id="0" name=""/>
        <dsp:cNvSpPr/>
      </dsp:nvSpPr>
      <dsp:spPr>
        <a:xfrm>
          <a:off x="0" y="0"/>
          <a:ext cx="2169387" cy="4351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Enhancing the model's intelligence through domain-specific context:</a:t>
          </a:r>
          <a:endParaRPr lang="en-US" sz="2000" kern="1200" dirty="0"/>
        </a:p>
      </dsp:txBody>
      <dsp:txXfrm>
        <a:off x="0" y="0"/>
        <a:ext cx="2169387" cy="4351338"/>
      </dsp:txXfrm>
    </dsp:sp>
    <dsp:sp modelId="{815B4028-56ED-44B8-9610-D8FE467E8C11}">
      <dsp:nvSpPr>
        <dsp:cNvPr id="0" name=""/>
        <dsp:cNvSpPr/>
      </dsp:nvSpPr>
      <dsp:spPr>
        <a:xfrm>
          <a:off x="2332091" y="67989"/>
          <a:ext cx="8514843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Seasonal Context:</a:t>
          </a:r>
          <a:r>
            <a:rPr lang="en-US" sz="2700" kern="1200"/>
            <a:t> Engineered categorical labels mapping months to regional climates (e.g., Winter, Monsoon, Summer).</a:t>
          </a:r>
          <a:endParaRPr lang="en-US" sz="2700" kern="1200" dirty="0"/>
        </a:p>
      </dsp:txBody>
      <dsp:txXfrm>
        <a:off x="2332091" y="67989"/>
        <a:ext cx="8514843" cy="1359793"/>
      </dsp:txXfrm>
    </dsp:sp>
    <dsp:sp modelId="{E5C3A68E-383D-45EA-A1A5-6D7BBE11E3F2}">
      <dsp:nvSpPr>
        <dsp:cNvPr id="0" name=""/>
        <dsp:cNvSpPr/>
      </dsp:nvSpPr>
      <dsp:spPr>
        <a:xfrm>
          <a:off x="2169387" y="1427782"/>
          <a:ext cx="86775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9B7CB2-1B4C-4C8D-AEBC-4B3ADB96B15E}">
      <dsp:nvSpPr>
        <dsp:cNvPr id="0" name=""/>
        <dsp:cNvSpPr/>
      </dsp:nvSpPr>
      <dsp:spPr>
        <a:xfrm>
          <a:off x="2332091" y="1495772"/>
          <a:ext cx="8514843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Timing Labels:</a:t>
          </a:r>
          <a:r>
            <a:rPr lang="en-US" sz="2700" kern="1200"/>
            <a:t> Classified data by time of day (Morning, Afternoon, Evening, Night) to capture diurnal temperature fluctuations.</a:t>
          </a:r>
          <a:endParaRPr lang="en-US" sz="2700" kern="1200" dirty="0"/>
        </a:p>
      </dsp:txBody>
      <dsp:txXfrm>
        <a:off x="2332091" y="1495772"/>
        <a:ext cx="8514843" cy="1359793"/>
      </dsp:txXfrm>
    </dsp:sp>
    <dsp:sp modelId="{DCCD7968-A9B4-4EFE-BD7C-2E8445E282B9}">
      <dsp:nvSpPr>
        <dsp:cNvPr id="0" name=""/>
        <dsp:cNvSpPr/>
      </dsp:nvSpPr>
      <dsp:spPr>
        <a:xfrm>
          <a:off x="2169387" y="2855565"/>
          <a:ext cx="86775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7A7F7-4318-4D06-943E-AFF96660C378}">
      <dsp:nvSpPr>
        <dsp:cNvPr id="0" name=""/>
        <dsp:cNvSpPr/>
      </dsp:nvSpPr>
      <dsp:spPr>
        <a:xfrm>
          <a:off x="2332091" y="2923555"/>
          <a:ext cx="8514843" cy="135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Exogenous Variables:</a:t>
          </a:r>
          <a:r>
            <a:rPr lang="en-US" sz="2700" kern="1200" dirty="0"/>
            <a:t> Incorporated "In/Out" sensor placement as an additional predictor to improve model accuracy.</a:t>
          </a:r>
        </a:p>
      </dsp:txBody>
      <dsp:txXfrm>
        <a:off x="2332091" y="2923555"/>
        <a:ext cx="8514843" cy="1359793"/>
      </dsp:txXfrm>
    </dsp:sp>
    <dsp:sp modelId="{22F9F0E5-777C-47BB-B6F2-1D33AE6FEC33}">
      <dsp:nvSpPr>
        <dsp:cNvPr id="0" name=""/>
        <dsp:cNvSpPr/>
      </dsp:nvSpPr>
      <dsp:spPr>
        <a:xfrm>
          <a:off x="2169387" y="4283348"/>
          <a:ext cx="867754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312.6114" TargetMode="External"/><Relationship Id="rId2" Type="http://schemas.openxmlformats.org/officeDocument/2006/relationships/hyperlink" Target="https://doi.org/10.1016/j.ijforecast.2006.03.00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keras.io/examples/generative/vae/" TargetMode="External"/><Relationship Id="rId4" Type="http://schemas.openxmlformats.org/officeDocument/2006/relationships/hyperlink" Target="https://github.com/Nixtla/statsforeca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L06 – Industrial IoT (IIoT) Time Series Forecasting Lab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ITAI 3377</a:t>
            </a:r>
            <a:endParaRPr lang="en-US">
              <a:solidFill>
                <a:srgbClr val="FFFFFF"/>
              </a:solidFill>
            </a:endParaRPr>
          </a:p>
          <a:p>
            <a:pPr algn="l"/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Hasan Zaidi</a:t>
            </a:r>
            <a:endParaRPr lang="en-US">
              <a:solidFill>
                <a:srgbClr val="FFFFFF"/>
              </a:solidFill>
            </a:endParaRPr>
          </a:p>
          <a:p>
            <a:pPr algn="l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A477-89DD-ECD8-CFB0-C680BFA1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C2C72B3A-5F44-39A8-CF23-E10287BCE2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18756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83798-FFBB-029A-A0B6-A1D2EACD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 Preparation and Preprocessing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003E38-8E3C-BAA1-F879-820EC88253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7015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562C5-8475-C75B-077A-138D1A30A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Model Selection &amp; Training</a:t>
            </a:r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45E1C167-5FB6-F2C5-F5F7-991DFFAEE5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23974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96D6F-04A1-607C-349E-EA11FF455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Feature Engineering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DD2A54-79E5-DA7A-26AC-1C2D3A370B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915879"/>
              </p:ext>
            </p:extLst>
          </p:nvPr>
        </p:nvGraphicFramePr>
        <p:xfrm>
          <a:off x="388496" y="1825625"/>
          <a:ext cx="10846935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246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F0D79-C816-DCDE-2483-CB5D1CAFE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129879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Evaluation &amp;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B4C5-8FF6-1471-CD12-1879BEB5E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585561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Model Performance:</a:t>
            </a:r>
            <a:r>
              <a:rPr lang="en-US" sz="2000">
                <a:ea typeface="+mn-lt"/>
                <a:cs typeface="+mn-lt"/>
              </a:rPr>
              <a:t> The MSTL (Multiple Seasonal-Trend decomposition using LOESS) and AutoARIMA models emerged as strong performers for this dataset.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Accuracy Metrics:</a:t>
            </a:r>
            <a:r>
              <a:rPr lang="en-US" sz="2000">
                <a:ea typeface="+mn-lt"/>
                <a:cs typeface="+mn-lt"/>
              </a:rPr>
              <a:t> Performance was benchmarked against baseline models like Seasonal Naive to ensure the AutoML models provided significant predictive value.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Validation:</a:t>
            </a:r>
            <a:r>
              <a:rPr lang="en-US" sz="2000">
                <a:ea typeface="+mn-lt"/>
                <a:cs typeface="+mn-lt"/>
              </a:rPr>
              <a:t> Rolling cross-validation confirmed that the models successfully captured both weekly patterns and seasonal shifts.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40799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B8364-F02B-6954-F4E2-3787B3690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211314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Generative Modeling – Synthetic Data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A78EA-3C13-DB73-47F5-2436B2F41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8874" y="2678629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700">
                <a:ea typeface="+mn-lt"/>
                <a:cs typeface="+mn-lt"/>
              </a:rPr>
              <a:t>A novel aspect of this lab was the use of Generative AI for data augmentation: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Implementation:</a:t>
            </a:r>
            <a:r>
              <a:rPr lang="en-US" sz="1700">
                <a:ea typeface="+mn-lt"/>
                <a:cs typeface="+mn-lt"/>
              </a:rPr>
              <a:t> Developed a Variational Autoencoder (VAE) using TensorFlow/Keras.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Purpose:</a:t>
            </a:r>
            <a:r>
              <a:rPr lang="en-US" sz="1700">
                <a:ea typeface="+mn-lt"/>
                <a:cs typeface="+mn-lt"/>
              </a:rPr>
              <a:t> To generate synthetic temperature data that mimics the statistical distribution of real-world readings.</a:t>
            </a:r>
            <a:endParaRPr lang="en-US" sz="1700"/>
          </a:p>
          <a:p>
            <a:pPr>
              <a:buFont typeface="Arial"/>
              <a:buChar char="•"/>
            </a:pPr>
            <a:r>
              <a:rPr lang="en-US" sz="1700" b="1">
                <a:ea typeface="+mn-lt"/>
                <a:cs typeface="+mn-lt"/>
              </a:rPr>
              <a:t>Impact:</a:t>
            </a:r>
            <a:r>
              <a:rPr lang="en-US" sz="1700">
                <a:ea typeface="+mn-lt"/>
                <a:cs typeface="+mn-lt"/>
              </a:rPr>
              <a:t> By augmenting the training set with synthetic samples, we aimed to improve model robustness against data sparsity and enhance generalizability.</a:t>
            </a:r>
            <a:endParaRPr lang="en-US" sz="1700"/>
          </a:p>
          <a:p>
            <a:pPr marL="0" indent="0">
              <a:buNone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735714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A3CEA-CD90-6337-E6EB-3EF32015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025177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Key Insights &amp; Recommendations</a:t>
            </a:r>
            <a:endParaRPr lang="en-US" sz="40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0F10717-D501-D885-5BD9-72AA51D16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8874" y="2608828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900" b="1">
                <a:ea typeface="+mn-lt"/>
                <a:cs typeface="+mn-lt"/>
              </a:rPr>
              <a:t>Automated Excellence:</a:t>
            </a:r>
            <a:r>
              <a:rPr lang="en-US" sz="1900">
                <a:ea typeface="+mn-lt"/>
                <a:cs typeface="+mn-lt"/>
              </a:rPr>
              <a:t> AutoML frameworks like Nixtla significantly reduce the manual effort required for hyperparameter tuning and model selection without sacrificing accuracy.</a:t>
            </a:r>
            <a:endParaRPr lang="en-US" sz="1900"/>
          </a:p>
          <a:p>
            <a:r>
              <a:rPr lang="en-US" sz="1900" b="1">
                <a:ea typeface="+mn-lt"/>
                <a:cs typeface="+mn-lt"/>
              </a:rPr>
              <a:t>The Power of Features:</a:t>
            </a:r>
            <a:r>
              <a:rPr lang="en-US" sz="1900">
                <a:ea typeface="+mn-lt"/>
                <a:cs typeface="+mn-lt"/>
              </a:rPr>
              <a:t> Incorporating seasonal and sensor-location features was more impactful than simply increasing model complexity.</a:t>
            </a:r>
            <a:endParaRPr lang="en-US" sz="1900"/>
          </a:p>
          <a:p>
            <a:r>
              <a:rPr lang="en-US" sz="1900" b="1">
                <a:ea typeface="+mn-lt"/>
                <a:cs typeface="+mn-lt"/>
              </a:rPr>
              <a:t>Future Work:</a:t>
            </a:r>
            <a:r>
              <a:rPr lang="en-US" sz="1900">
                <a:ea typeface="+mn-lt"/>
                <a:cs typeface="+mn-lt"/>
              </a:rPr>
              <a:t> We recommend deploying the MSTL model as the production baseline while continuing to refine the VAE to better capture extreme environmental anomalies.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4209911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1DF222-5196-B52B-C908-7AB347B1E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850673"/>
          </a:xfrm>
        </p:spPr>
        <p:txBody>
          <a:bodyPr anchor="ctr">
            <a:normAutofit/>
          </a:bodyPr>
          <a:lstStyle/>
          <a:p>
            <a:r>
              <a:rPr lang="en-US" sz="400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0E372-80FC-B1AE-71F5-98A0D1EC7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341255"/>
            <a:ext cx="8074815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>
                <a:ea typeface="+mn-lt"/>
                <a:cs typeface="+mn-lt"/>
              </a:rPr>
              <a:t>Hyndman, R. J., &amp; Koehler, A. B. (2006). Another look at measures of forecast accuracy. </a:t>
            </a:r>
            <a:r>
              <a:rPr lang="en-US" sz="1700" i="1">
                <a:ea typeface="+mn-lt"/>
                <a:cs typeface="+mn-lt"/>
              </a:rPr>
              <a:t>International Journal of Forecasting</a:t>
            </a:r>
            <a:r>
              <a:rPr lang="en-US" sz="1700">
                <a:ea typeface="+mn-lt"/>
                <a:cs typeface="+mn-lt"/>
              </a:rPr>
              <a:t>, </a:t>
            </a:r>
            <a:r>
              <a:rPr lang="en-US" sz="1700" i="1">
                <a:ea typeface="+mn-lt"/>
                <a:cs typeface="+mn-lt"/>
              </a:rPr>
              <a:t>22</a:t>
            </a:r>
            <a:r>
              <a:rPr lang="en-US" sz="1700">
                <a:ea typeface="+mn-lt"/>
                <a:cs typeface="+mn-lt"/>
              </a:rPr>
              <a:t>(4), 679–688. </a:t>
            </a:r>
            <a:r>
              <a:rPr lang="en-US" sz="1700">
                <a:ea typeface="+mn-lt"/>
                <a:cs typeface="+mn-lt"/>
                <a:hlinkClick r:id="rId2"/>
              </a:rPr>
              <a:t>https://doi.org/10.1016/j.ijforecast.2006.03.001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Kingma, D. P., &amp; Welling, M. (2013). </a:t>
            </a:r>
            <a:r>
              <a:rPr lang="en-US" sz="1700" i="1">
                <a:ea typeface="+mn-lt"/>
                <a:cs typeface="+mn-lt"/>
              </a:rPr>
              <a:t>Auto-encoding variational bayes</a:t>
            </a:r>
            <a:r>
              <a:rPr lang="en-US" sz="1700">
                <a:ea typeface="+mn-lt"/>
                <a:cs typeface="+mn-lt"/>
              </a:rPr>
              <a:t>. arXiv. </a:t>
            </a:r>
            <a:r>
              <a:rPr lang="en-US" sz="1700">
                <a:ea typeface="+mn-lt"/>
                <a:cs typeface="+mn-lt"/>
                <a:hlinkClick r:id="rId3"/>
              </a:rPr>
              <a:t>https://arxiv.org/abs/1312.6114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Nixtla. (2022). </a:t>
            </a:r>
            <a:r>
              <a:rPr lang="en-US" sz="1700" i="1">
                <a:ea typeface="+mn-lt"/>
                <a:cs typeface="+mn-lt"/>
              </a:rPr>
              <a:t>StatsForecast: Lightning fast forecasting with statistical and econometric models</a:t>
            </a:r>
            <a:r>
              <a:rPr lang="en-US" sz="1700">
                <a:ea typeface="+mn-lt"/>
                <a:cs typeface="+mn-lt"/>
              </a:rPr>
              <a:t>. GitHub. </a:t>
            </a:r>
            <a:r>
              <a:rPr lang="en-US" sz="1700">
                <a:ea typeface="+mn-lt"/>
                <a:cs typeface="+mn-lt"/>
                <a:hlinkClick r:id="rId4"/>
              </a:rPr>
              <a:t>https://github.com/Nixtla/statsforecast</a:t>
            </a:r>
            <a:endParaRPr lang="en-US" sz="1700"/>
          </a:p>
          <a:p>
            <a:r>
              <a:rPr lang="en-US" sz="1700">
                <a:ea typeface="+mn-lt"/>
                <a:cs typeface="+mn-lt"/>
              </a:rPr>
              <a:t>TensorFlow. (n.d.). </a:t>
            </a:r>
            <a:r>
              <a:rPr lang="en-US" sz="1700" i="1">
                <a:ea typeface="+mn-lt"/>
                <a:cs typeface="+mn-lt"/>
              </a:rPr>
              <a:t>Variational AutoEncoder (VAE)</a:t>
            </a:r>
            <a:r>
              <a:rPr lang="en-US" sz="1700">
                <a:ea typeface="+mn-lt"/>
                <a:cs typeface="+mn-lt"/>
              </a:rPr>
              <a:t>. Keras Documentation. </a:t>
            </a:r>
            <a:r>
              <a:rPr lang="en-US" sz="1700">
                <a:ea typeface="+mn-lt"/>
                <a:cs typeface="+mn-lt"/>
                <a:hlinkClick r:id="rId5"/>
              </a:rPr>
              <a:t>https://keras.io/examples/generative/vae/</a:t>
            </a:r>
            <a:endParaRPr lang="en-US" sz="17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177709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L06 – Industrial IoT (IIoT) Time Series Forecasting Lab</vt:lpstr>
      <vt:lpstr>Introduction</vt:lpstr>
      <vt:lpstr>Data Preparation and Preprocessing</vt:lpstr>
      <vt:lpstr>Model Selection &amp; Training</vt:lpstr>
      <vt:lpstr>Feature Engineering</vt:lpstr>
      <vt:lpstr>Evaluation &amp; Key Findings</vt:lpstr>
      <vt:lpstr>Generative Modeling – Synthetic Data</vt:lpstr>
      <vt:lpstr>Key Insights &amp; Recommendations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135</cp:revision>
  <dcterms:created xsi:type="dcterms:W3CDTF">2026-03-29T05:26:05Z</dcterms:created>
  <dcterms:modified xsi:type="dcterms:W3CDTF">2026-03-30T05:23:11Z</dcterms:modified>
</cp:coreProperties>
</file>